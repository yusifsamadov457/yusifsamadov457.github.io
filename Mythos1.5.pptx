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0" r:id="rId1"/>
  </p:sldMasterIdLst>
  <p:sldIdLst>
    <p:sldId id="256" r:id="rId2"/>
    <p:sldId id="259" r:id="rId3"/>
    <p:sldId id="278" r:id="rId4"/>
    <p:sldId id="279" r:id="rId5"/>
    <p:sldId id="286" r:id="rId6"/>
    <p:sldId id="280" r:id="rId7"/>
    <p:sldId id="282" r:id="rId8"/>
    <p:sldId id="283" r:id="rId9"/>
    <p:sldId id="284" r:id="rId10"/>
    <p:sldId id="272" r:id="rId11"/>
    <p:sldId id="273" r:id="rId12"/>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6500"/>
    <a:srgbClr val="0066CC"/>
    <a:srgbClr val="326B76"/>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4" d="100"/>
          <a:sy n="94" d="100"/>
        </p:scale>
        <p:origin x="1138" y="115"/>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2" cstate="print"/>
          <a:srcRect t="33333"/>
          <a:stretch>
            <a:fillRect/>
          </a:stretch>
        </p:blipFill>
        <p:spPr>
          <a:xfrm>
            <a:off x="0" y="0"/>
            <a:ext cx="9144000" cy="4572000"/>
          </a:xfrm>
          <a:prstGeom prst="rect">
            <a:avLst/>
          </a:prstGeom>
        </p:spPr>
      </p:pic>
      <p:sp>
        <p:nvSpPr>
          <p:cNvPr id="4" name="Date Placeholder 3"/>
          <p:cNvSpPr>
            <a:spLocks noGrp="1"/>
          </p:cNvSpPr>
          <p:nvPr>
            <p:ph type="dt" sz="half" idx="10"/>
          </p:nvPr>
        </p:nvSpPr>
        <p:spPr/>
        <p:txBody>
          <a:bodyPr/>
          <a:lstStyle/>
          <a:p>
            <a:fld id="{A23720DD-5B6D-40BF-8493-A6B52D484E6B}" type="datetimeFigureOut">
              <a:rPr lang="tr-TR" smtClean="0"/>
              <a:t>26.05.2026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302176B-0E47-46AC-8F43-DAB4B8A37D06}" type="slidenum">
              <a:rPr lang="tr-TR" smtClean="0"/>
              <a:t>‹#›</a:t>
            </a:fld>
            <a:endParaRPr lang="tr-TR"/>
          </a:p>
        </p:txBody>
      </p:sp>
      <p:sp>
        <p:nvSpPr>
          <p:cNvPr id="3" name="Subtitle 2"/>
          <p:cNvSpPr>
            <a:spLocks noGrp="1"/>
          </p:cNvSpPr>
          <p:nvPr>
            <p:ph type="subTitle" idx="1"/>
          </p:nvPr>
        </p:nvSpPr>
        <p:spPr>
          <a:xfrm>
            <a:off x="1219200" y="3886200"/>
            <a:ext cx="6400800" cy="1752600"/>
          </a:xfrm>
        </p:spPr>
        <p:txBody>
          <a:bodyPr>
            <a:normAutofit/>
          </a:bodyPr>
          <a:lstStyle>
            <a:lvl1pPr marL="0" indent="0" algn="ctr">
              <a:buNone/>
              <a:defRPr sz="1700" baseline="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en-US" dirty="0"/>
          </a:p>
        </p:txBody>
      </p:sp>
      <p:sp>
        <p:nvSpPr>
          <p:cNvPr id="2" name="Title 1"/>
          <p:cNvSpPr>
            <a:spLocks noGrp="1"/>
          </p:cNvSpPr>
          <p:nvPr>
            <p:ph type="ctrTitle"/>
          </p:nvPr>
        </p:nvSpPr>
        <p:spPr>
          <a:xfrm>
            <a:off x="685800" y="2007888"/>
            <a:ext cx="7772400" cy="1470025"/>
          </a:xfrm>
        </p:spPr>
        <p:txBody>
          <a:bodyPr/>
          <a:lstStyle>
            <a:lvl1pPr algn="ctr">
              <a:defRPr sz="3200"/>
            </a:lvl1pPr>
          </a:lstStyle>
          <a:p>
            <a:r>
              <a:rPr lang="tr-TR" smtClean="0"/>
              <a:t>Asıl başlık stili için tıklatın</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7924800" cy="1143000"/>
          </a:xfrm>
        </p:spPr>
        <p:txBody>
          <a:bodyPr/>
          <a:lstStyle/>
          <a:p>
            <a:r>
              <a:rPr lang="tr-TR" smtClean="0"/>
              <a:t>Asıl başlık stili için tıklatın</a:t>
            </a:r>
            <a:endParaRPr lang="en-US" dirty="0"/>
          </a:p>
        </p:txBody>
      </p:sp>
      <p:sp>
        <p:nvSpPr>
          <p:cNvPr id="4" name="Date Placeholder 3"/>
          <p:cNvSpPr>
            <a:spLocks noGrp="1"/>
          </p:cNvSpPr>
          <p:nvPr>
            <p:ph type="dt" sz="half" idx="10"/>
          </p:nvPr>
        </p:nvSpPr>
        <p:spPr/>
        <p:txBody>
          <a:bodyPr/>
          <a:lstStyle/>
          <a:p>
            <a:fld id="{A23720DD-5B6D-40BF-8493-A6B52D484E6B}" type="datetimeFigureOut">
              <a:rPr lang="tr-TR" smtClean="0"/>
              <a:t>26.05.2026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302176B-0E47-46AC-8F43-DAB4B8A37D06}" type="slidenum">
              <a:rPr lang="tr-TR" smtClean="0"/>
              <a:t>‹#›</a:t>
            </a:fld>
            <a:endParaRPr lang="tr-TR"/>
          </a:p>
        </p:txBody>
      </p:sp>
      <p:sp>
        <p:nvSpPr>
          <p:cNvPr id="8" name="Content Placeholder 7"/>
          <p:cNvSpPr>
            <a:spLocks noGrp="1"/>
          </p:cNvSpPr>
          <p:nvPr>
            <p:ph sz="quarter" idx="13"/>
          </p:nvPr>
        </p:nvSpPr>
        <p:spPr>
          <a:xfrm>
            <a:off x="609600" y="1600200"/>
            <a:ext cx="7924800" cy="411480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Bölüm Üstbilgisi">
    <p:spTree>
      <p:nvGrpSpPr>
        <p:cNvPr id="1" name=""/>
        <p:cNvGrpSpPr/>
        <p:nvPr/>
      </p:nvGrpSpPr>
      <p:grpSpPr>
        <a:xfrm>
          <a:off x="0" y="0"/>
          <a:ext cx="0" cy="0"/>
          <a:chOff x="0" y="0"/>
          <a:chExt cx="0" cy="0"/>
        </a:xfrm>
      </p:grpSpPr>
      <p:sp>
        <p:nvSpPr>
          <p:cNvPr id="2" name="Title 1"/>
          <p:cNvSpPr>
            <a:spLocks noGrp="1"/>
          </p:cNvSpPr>
          <p:nvPr>
            <p:ph type="title"/>
          </p:nvPr>
        </p:nvSpPr>
        <p:spPr>
          <a:xfrm>
            <a:off x="609600" y="4962525"/>
            <a:ext cx="7885113" cy="1362075"/>
          </a:xfrm>
        </p:spPr>
        <p:txBody>
          <a:bodyPr anchor="t"/>
          <a:lstStyle>
            <a:lvl1pPr algn="l">
              <a:defRPr sz="3200" b="0" i="0" cap="all" baseline="0"/>
            </a:lvl1pPr>
          </a:lstStyle>
          <a:p>
            <a:r>
              <a:rPr lang="tr-TR" smtClean="0"/>
              <a:t>Asıl başlık stili için tıklatın</a:t>
            </a:r>
            <a:endParaRPr lang="en-US" dirty="0"/>
          </a:p>
        </p:txBody>
      </p:sp>
      <p:sp>
        <p:nvSpPr>
          <p:cNvPr id="3" name="Text Placeholder 2"/>
          <p:cNvSpPr>
            <a:spLocks noGrp="1"/>
          </p:cNvSpPr>
          <p:nvPr>
            <p:ph type="body" idx="1"/>
          </p:nvPr>
        </p:nvSpPr>
        <p:spPr>
          <a:xfrm>
            <a:off x="609600" y="3462338"/>
            <a:ext cx="7885113" cy="1500187"/>
          </a:xfrm>
        </p:spPr>
        <p:txBody>
          <a:bodyPr anchor="b">
            <a:normAutofit/>
          </a:bodyPr>
          <a:lstStyle>
            <a:lvl1pPr marL="0" indent="0">
              <a:buNone/>
              <a:defRPr sz="1700" baseline="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Date Placeholder 3"/>
          <p:cNvSpPr>
            <a:spLocks noGrp="1"/>
          </p:cNvSpPr>
          <p:nvPr>
            <p:ph type="dt" sz="half" idx="10"/>
          </p:nvPr>
        </p:nvSpPr>
        <p:spPr/>
        <p:txBody>
          <a:bodyPr/>
          <a:lstStyle/>
          <a:p>
            <a:fld id="{A23720DD-5B6D-40BF-8493-A6B52D484E6B}" type="datetimeFigureOut">
              <a:rPr lang="tr-TR" smtClean="0"/>
              <a:t>26.05.2026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11" name="Content Placeholder 10"/>
          <p:cNvSpPr>
            <a:spLocks noGrp="1"/>
          </p:cNvSpPr>
          <p:nvPr>
            <p:ph sz="quarter" idx="13"/>
          </p:nvPr>
        </p:nvSpPr>
        <p:spPr>
          <a:xfrm>
            <a:off x="609600" y="1600200"/>
            <a:ext cx="3733800" cy="4114800"/>
          </a:xfrm>
        </p:spPr>
        <p:txBody>
          <a:bodyPr/>
          <a:lstStyle>
            <a:lvl5pPr>
              <a:defRPr/>
            </a:lvl5pPr>
            <a:lvl6pPr>
              <a:buClr>
                <a:schemeClr val="tx2"/>
              </a:buClr>
              <a:buFont typeface="Arial" pitchFamily="34" charset="0"/>
              <a:buChar char="•"/>
              <a:defRPr/>
            </a:lvl6pPr>
            <a:lvl7pPr>
              <a:buClr>
                <a:schemeClr val="tx2"/>
              </a:buClr>
              <a:buFont typeface="Arial" pitchFamily="34" charset="0"/>
              <a:buChar char="•"/>
              <a:defRPr/>
            </a:lvl7pPr>
            <a:lvl8pPr>
              <a:buClr>
                <a:schemeClr val="tx2"/>
              </a:buClr>
              <a:buFont typeface="Arial" pitchFamily="34" charset="0"/>
              <a:buChar char="•"/>
              <a:defRPr/>
            </a:lvl8pPr>
            <a:lvl9pPr>
              <a:buClr>
                <a:schemeClr val="tx2"/>
              </a:buClr>
              <a:buFont typeface="Arial" pitchFamily="34" charset="0"/>
              <a:buChar char="•"/>
              <a:defRPr/>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smtClean="0"/>
          </a:p>
        </p:txBody>
      </p:sp>
      <p:sp>
        <p:nvSpPr>
          <p:cNvPr id="13" name="Content Placeholder 12"/>
          <p:cNvSpPr>
            <a:spLocks noGrp="1"/>
          </p:cNvSpPr>
          <p:nvPr>
            <p:ph sz="quarter" idx="14"/>
          </p:nvPr>
        </p:nvSpPr>
        <p:spPr>
          <a:xfrm>
            <a:off x="4800600" y="1600200"/>
            <a:ext cx="3733800" cy="41148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smtClean="0"/>
          </a:p>
        </p:txBody>
      </p:sp>
      <p:sp>
        <p:nvSpPr>
          <p:cNvPr id="2" name="Title 1"/>
          <p:cNvSpPr>
            <a:spLocks noGrp="1"/>
          </p:cNvSpPr>
          <p:nvPr>
            <p:ph type="title"/>
          </p:nvPr>
        </p:nvSpPr>
        <p:spPr>
          <a:xfrm>
            <a:off x="609600" y="274638"/>
            <a:ext cx="7924800" cy="1143000"/>
          </a:xfrm>
        </p:spPr>
        <p:txBody>
          <a:bodyPr/>
          <a:lstStyle/>
          <a:p>
            <a:r>
              <a:rPr lang="tr-TR" smtClean="0"/>
              <a:t>Asıl başlık stili için tıklatın</a:t>
            </a:r>
            <a:endParaRPr lang="en-US" dirty="0"/>
          </a:p>
        </p:txBody>
      </p:sp>
      <p:sp>
        <p:nvSpPr>
          <p:cNvPr id="5" name="Date Placeholder 4"/>
          <p:cNvSpPr>
            <a:spLocks noGrp="1"/>
          </p:cNvSpPr>
          <p:nvPr>
            <p:ph type="dt" sz="half" idx="10"/>
          </p:nvPr>
        </p:nvSpPr>
        <p:spPr/>
        <p:txBody>
          <a:bodyPr/>
          <a:lstStyle/>
          <a:p>
            <a:fld id="{A23720DD-5B6D-40BF-8493-A6B52D484E6B}" type="datetimeFigureOut">
              <a:rPr lang="tr-TR" smtClean="0"/>
              <a:t>26.05.2026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13" name="Content Placeholder 12"/>
          <p:cNvSpPr>
            <a:spLocks noGrp="1"/>
          </p:cNvSpPr>
          <p:nvPr>
            <p:ph sz="quarter" idx="14"/>
          </p:nvPr>
        </p:nvSpPr>
        <p:spPr>
          <a:xfrm>
            <a:off x="4800600" y="2209800"/>
            <a:ext cx="37338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smtClean="0"/>
          </a:p>
        </p:txBody>
      </p:sp>
      <p:sp>
        <p:nvSpPr>
          <p:cNvPr id="11" name="Content Placeholder 10"/>
          <p:cNvSpPr>
            <a:spLocks noGrp="1"/>
          </p:cNvSpPr>
          <p:nvPr>
            <p:ph sz="quarter" idx="13"/>
          </p:nvPr>
        </p:nvSpPr>
        <p:spPr>
          <a:xfrm>
            <a:off x="609600" y="2209800"/>
            <a:ext cx="37338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smtClean="0"/>
          </a:p>
        </p:txBody>
      </p:sp>
      <p:sp>
        <p:nvSpPr>
          <p:cNvPr id="2" name="Title 1"/>
          <p:cNvSpPr>
            <a:spLocks noGrp="1"/>
          </p:cNvSpPr>
          <p:nvPr>
            <p:ph type="title"/>
          </p:nvPr>
        </p:nvSpPr>
        <p:spPr>
          <a:xfrm>
            <a:off x="609600" y="274638"/>
            <a:ext cx="7924800" cy="1143000"/>
          </a:xfrm>
        </p:spPr>
        <p:txBody>
          <a:bodyPr/>
          <a:lstStyle>
            <a:lvl1pPr>
              <a:defRPr/>
            </a:lvl1pPr>
          </a:lstStyle>
          <a:p>
            <a:r>
              <a:rPr lang="tr-TR" smtClean="0"/>
              <a:t>Asıl başlık stili için tıklatın</a:t>
            </a:r>
            <a:endParaRPr lang="en-US" dirty="0"/>
          </a:p>
        </p:txBody>
      </p:sp>
      <p:sp>
        <p:nvSpPr>
          <p:cNvPr id="3" name="Text Placeholder 2"/>
          <p:cNvSpPr>
            <a:spLocks noGrp="1"/>
          </p:cNvSpPr>
          <p:nvPr>
            <p:ph type="body" idx="1"/>
          </p:nvPr>
        </p:nvSpPr>
        <p:spPr>
          <a:xfrm>
            <a:off x="609600" y="1600199"/>
            <a:ext cx="37338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5" name="Text Placeholder 4"/>
          <p:cNvSpPr>
            <a:spLocks noGrp="1"/>
          </p:cNvSpPr>
          <p:nvPr>
            <p:ph type="body" sz="quarter" idx="3"/>
          </p:nvPr>
        </p:nvSpPr>
        <p:spPr>
          <a:xfrm>
            <a:off x="4800600" y="1600199"/>
            <a:ext cx="37338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7" name="Date Placeholder 6"/>
          <p:cNvSpPr>
            <a:spLocks noGrp="1"/>
          </p:cNvSpPr>
          <p:nvPr>
            <p:ph type="dt" sz="half" idx="10"/>
          </p:nvPr>
        </p:nvSpPr>
        <p:spPr/>
        <p:txBody>
          <a:bodyPr/>
          <a:lstStyle/>
          <a:p>
            <a:fld id="{A23720DD-5B6D-40BF-8493-A6B52D484E6B}" type="datetimeFigureOut">
              <a:rPr lang="tr-TR" smtClean="0"/>
              <a:t>26.05.2026</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7924800" cy="1143000"/>
          </a:xfrm>
        </p:spPr>
        <p:txBody>
          <a:bodyPr/>
          <a:lstStyle/>
          <a:p>
            <a:r>
              <a:rPr lang="tr-TR" smtClean="0"/>
              <a:t>Asıl başlık stili için tıklatın</a:t>
            </a:r>
            <a:endParaRPr lang="en-US" dirty="0"/>
          </a:p>
        </p:txBody>
      </p:sp>
      <p:sp>
        <p:nvSpPr>
          <p:cNvPr id="3" name="Date Placeholder 2"/>
          <p:cNvSpPr>
            <a:spLocks noGrp="1"/>
          </p:cNvSpPr>
          <p:nvPr>
            <p:ph type="dt" sz="half" idx="10"/>
          </p:nvPr>
        </p:nvSpPr>
        <p:spPr/>
        <p:txBody>
          <a:bodyPr/>
          <a:lstStyle/>
          <a:p>
            <a:fld id="{A23720DD-5B6D-40BF-8493-A6B52D484E6B}" type="datetimeFigureOut">
              <a:rPr lang="tr-TR" smtClean="0"/>
              <a:t>26.05.2026</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3720DD-5B6D-40BF-8493-A6B52D484E6B}" type="datetimeFigureOut">
              <a:rPr lang="tr-TR" smtClean="0"/>
              <a:t>26.05.2026</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9" name="Content Placeholder 8"/>
          <p:cNvSpPr>
            <a:spLocks noGrp="1"/>
          </p:cNvSpPr>
          <p:nvPr>
            <p:ph sz="quarter" idx="13"/>
          </p:nvPr>
        </p:nvSpPr>
        <p:spPr>
          <a:xfrm>
            <a:off x="3962400" y="1447800"/>
            <a:ext cx="4648200" cy="426720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2" name="Title 1"/>
          <p:cNvSpPr>
            <a:spLocks noGrp="1"/>
          </p:cNvSpPr>
          <p:nvPr>
            <p:ph type="title"/>
          </p:nvPr>
        </p:nvSpPr>
        <p:spPr>
          <a:xfrm>
            <a:off x="612648" y="1447800"/>
            <a:ext cx="2971800" cy="1097280"/>
          </a:xfrm>
        </p:spPr>
        <p:txBody>
          <a:bodyPr anchor="b"/>
          <a:lstStyle>
            <a:lvl1pPr algn="l">
              <a:defRPr sz="1800" b="0" i="0" cap="none" baseline="0">
                <a:solidFill>
                  <a:schemeClr val="tx2"/>
                </a:solidFill>
              </a:defRPr>
            </a:lvl1pPr>
          </a:lstStyle>
          <a:p>
            <a:r>
              <a:rPr lang="tr-TR" smtClean="0"/>
              <a:t>Asıl başlık stili için tıklatın</a:t>
            </a:r>
            <a:endParaRPr lang="en-US" dirty="0"/>
          </a:p>
        </p:txBody>
      </p:sp>
      <p:sp>
        <p:nvSpPr>
          <p:cNvPr id="4" name="Text Placeholder 3"/>
          <p:cNvSpPr>
            <a:spLocks noGrp="1"/>
          </p:cNvSpPr>
          <p:nvPr>
            <p:ph type="body" sz="half" idx="2"/>
          </p:nvPr>
        </p:nvSpPr>
        <p:spPr>
          <a:xfrm>
            <a:off x="612648" y="2547891"/>
            <a:ext cx="2971800" cy="3167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Date Placeholder 4"/>
          <p:cNvSpPr>
            <a:spLocks noGrp="1"/>
          </p:cNvSpPr>
          <p:nvPr>
            <p:ph type="dt" sz="half" idx="10"/>
          </p:nvPr>
        </p:nvSpPr>
        <p:spPr/>
        <p:txBody>
          <a:bodyPr/>
          <a:lstStyle/>
          <a:p>
            <a:fld id="{A23720DD-5B6D-40BF-8493-A6B52D484E6B}" type="datetimeFigureOut">
              <a:rPr lang="tr-TR" smtClean="0"/>
              <a:t>26.05.2026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pic>
        <p:nvPicPr>
          <p:cNvPr id="11" name="Picture 10" descr="horizon.png"/>
          <p:cNvPicPr>
            <a:picLocks noChangeAspect="1"/>
          </p:cNvPicPr>
          <p:nvPr/>
        </p:nvPicPr>
        <p:blipFill>
          <a:blip r:embed="rId2" cstate="print"/>
          <a:stretch>
            <a:fillRect/>
          </a:stretch>
        </p:blipFill>
        <p:spPr>
          <a:xfrm>
            <a:off x="0" y="0"/>
            <a:ext cx="9144000" cy="6858000"/>
          </a:xfrm>
          <a:prstGeom prst="rect">
            <a:avLst/>
          </a:prstGeom>
        </p:spPr>
      </p:pic>
      <p:sp>
        <p:nvSpPr>
          <p:cNvPr id="2" name="Title 1"/>
          <p:cNvSpPr>
            <a:spLocks noGrp="1"/>
          </p:cNvSpPr>
          <p:nvPr>
            <p:ph type="title"/>
          </p:nvPr>
        </p:nvSpPr>
        <p:spPr>
          <a:xfrm>
            <a:off x="609600" y="1447800"/>
            <a:ext cx="2971800" cy="1097280"/>
          </a:xfrm>
        </p:spPr>
        <p:txBody>
          <a:bodyPr anchor="b"/>
          <a:lstStyle>
            <a:lvl1pPr algn="l">
              <a:defRPr sz="1800" b="0" i="0" cap="none" baseline="0">
                <a:solidFill>
                  <a:schemeClr val="tx2"/>
                </a:solidFill>
              </a:defRPr>
            </a:lvl1pPr>
          </a:lstStyle>
          <a:p>
            <a:r>
              <a:rPr lang="tr-TR" smtClean="0"/>
              <a:t>Asıl başlık stili için tıklatın</a:t>
            </a:r>
            <a:endParaRPr lang="en-US" dirty="0"/>
          </a:p>
        </p:txBody>
      </p:sp>
      <p:sp>
        <p:nvSpPr>
          <p:cNvPr id="3" name="Picture Placeholder 2"/>
          <p:cNvSpPr>
            <a:spLocks noGrp="1"/>
          </p:cNvSpPr>
          <p:nvPr>
            <p:ph type="pic" idx="1"/>
          </p:nvPr>
        </p:nvSpPr>
        <p:spPr>
          <a:xfrm>
            <a:off x="4657344" y="1447800"/>
            <a:ext cx="3419856" cy="3474720"/>
          </a:xfrm>
          <a:custGeom>
            <a:avLst/>
            <a:gdLst>
              <a:gd name="connsiteX0" fmla="*/ 0 w 3419856"/>
              <a:gd name="connsiteY0" fmla="*/ 74450 h 3429000"/>
              <a:gd name="connsiteX1" fmla="*/ 21806 w 3419856"/>
              <a:gd name="connsiteY1" fmla="*/ 21806 h 3429000"/>
              <a:gd name="connsiteX2" fmla="*/ 74450 w 3419856"/>
              <a:gd name="connsiteY2" fmla="*/ 0 h 3429000"/>
              <a:gd name="connsiteX3" fmla="*/ 3345406 w 3419856"/>
              <a:gd name="connsiteY3" fmla="*/ 0 h 3429000"/>
              <a:gd name="connsiteX4" fmla="*/ 3398050 w 3419856"/>
              <a:gd name="connsiteY4" fmla="*/ 21806 h 3429000"/>
              <a:gd name="connsiteX5" fmla="*/ 3419856 w 3419856"/>
              <a:gd name="connsiteY5" fmla="*/ 74450 h 3429000"/>
              <a:gd name="connsiteX6" fmla="*/ 3419856 w 3419856"/>
              <a:gd name="connsiteY6" fmla="*/ 3354550 h 3429000"/>
              <a:gd name="connsiteX7" fmla="*/ 3398050 w 3419856"/>
              <a:gd name="connsiteY7" fmla="*/ 3407194 h 3429000"/>
              <a:gd name="connsiteX8" fmla="*/ 3345406 w 3419856"/>
              <a:gd name="connsiteY8" fmla="*/ 3429000 h 3429000"/>
              <a:gd name="connsiteX9" fmla="*/ 74450 w 3419856"/>
              <a:gd name="connsiteY9" fmla="*/ 3429000 h 3429000"/>
              <a:gd name="connsiteX10" fmla="*/ 21806 w 3419856"/>
              <a:gd name="connsiteY10" fmla="*/ 3407194 h 3429000"/>
              <a:gd name="connsiteX11" fmla="*/ 0 w 3419856"/>
              <a:gd name="connsiteY11" fmla="*/ 3354550 h 3429000"/>
              <a:gd name="connsiteX12" fmla="*/ 0 w 3419856"/>
              <a:gd name="connsiteY12" fmla="*/ 74450 h 3429000"/>
              <a:gd name="connsiteX0" fmla="*/ 0 w 3419856"/>
              <a:gd name="connsiteY0" fmla="*/ 74450 h 3429000"/>
              <a:gd name="connsiteX1" fmla="*/ 21806 w 3419856"/>
              <a:gd name="connsiteY1" fmla="*/ 21806 h 3429000"/>
              <a:gd name="connsiteX2" fmla="*/ 74450 w 3419856"/>
              <a:gd name="connsiteY2" fmla="*/ 0 h 3429000"/>
              <a:gd name="connsiteX3" fmla="*/ 3345406 w 3419856"/>
              <a:gd name="connsiteY3" fmla="*/ 0 h 3429000"/>
              <a:gd name="connsiteX4" fmla="*/ 3398050 w 3419856"/>
              <a:gd name="connsiteY4" fmla="*/ 21806 h 3429000"/>
              <a:gd name="connsiteX5" fmla="*/ 3419856 w 3419856"/>
              <a:gd name="connsiteY5" fmla="*/ 74450 h 3429000"/>
              <a:gd name="connsiteX6" fmla="*/ 3419856 w 3419856"/>
              <a:gd name="connsiteY6" fmla="*/ 3354550 h 3429000"/>
              <a:gd name="connsiteX7" fmla="*/ 3398050 w 3419856"/>
              <a:gd name="connsiteY7" fmla="*/ 3407194 h 3429000"/>
              <a:gd name="connsiteX8" fmla="*/ 3345406 w 3419856"/>
              <a:gd name="connsiteY8" fmla="*/ 3429000 h 3429000"/>
              <a:gd name="connsiteX9" fmla="*/ 21806 w 3419856"/>
              <a:gd name="connsiteY9" fmla="*/ 3407194 h 3429000"/>
              <a:gd name="connsiteX10" fmla="*/ 0 w 3419856"/>
              <a:gd name="connsiteY10" fmla="*/ 3354550 h 3429000"/>
              <a:gd name="connsiteX11" fmla="*/ 0 w 3419856"/>
              <a:gd name="connsiteY11" fmla="*/ 74450 h 3429000"/>
              <a:gd name="connsiteX0" fmla="*/ 0 w 3964392"/>
              <a:gd name="connsiteY0" fmla="*/ 74450 h 3415968"/>
              <a:gd name="connsiteX1" fmla="*/ 21806 w 3964392"/>
              <a:gd name="connsiteY1" fmla="*/ 21806 h 3415968"/>
              <a:gd name="connsiteX2" fmla="*/ 74450 w 3964392"/>
              <a:gd name="connsiteY2" fmla="*/ 0 h 3415968"/>
              <a:gd name="connsiteX3" fmla="*/ 3345406 w 3964392"/>
              <a:gd name="connsiteY3" fmla="*/ 0 h 3415968"/>
              <a:gd name="connsiteX4" fmla="*/ 3398050 w 3964392"/>
              <a:gd name="connsiteY4" fmla="*/ 21806 h 3415968"/>
              <a:gd name="connsiteX5" fmla="*/ 3419856 w 3964392"/>
              <a:gd name="connsiteY5" fmla="*/ 74450 h 3415968"/>
              <a:gd name="connsiteX6" fmla="*/ 3419856 w 3964392"/>
              <a:gd name="connsiteY6" fmla="*/ 3354550 h 3415968"/>
              <a:gd name="connsiteX7" fmla="*/ 3398050 w 3964392"/>
              <a:gd name="connsiteY7" fmla="*/ 3407194 h 3415968"/>
              <a:gd name="connsiteX8" fmla="*/ 21806 w 3964392"/>
              <a:gd name="connsiteY8" fmla="*/ 3407194 h 3415968"/>
              <a:gd name="connsiteX9" fmla="*/ 0 w 3964392"/>
              <a:gd name="connsiteY9" fmla="*/ 3354550 h 3415968"/>
              <a:gd name="connsiteX10" fmla="*/ 0 w 3964392"/>
              <a:gd name="connsiteY10" fmla="*/ 74450 h 3415968"/>
              <a:gd name="connsiteX0" fmla="*/ 0 w 3964392"/>
              <a:gd name="connsiteY0" fmla="*/ 74450 h 3415968"/>
              <a:gd name="connsiteX1" fmla="*/ 21806 w 3964392"/>
              <a:gd name="connsiteY1" fmla="*/ 21806 h 3415968"/>
              <a:gd name="connsiteX2" fmla="*/ 74450 w 3964392"/>
              <a:gd name="connsiteY2" fmla="*/ 0 h 3415968"/>
              <a:gd name="connsiteX3" fmla="*/ 3345406 w 3964392"/>
              <a:gd name="connsiteY3" fmla="*/ 0 h 3415968"/>
              <a:gd name="connsiteX4" fmla="*/ 3398050 w 3964392"/>
              <a:gd name="connsiteY4" fmla="*/ 21806 h 3415968"/>
              <a:gd name="connsiteX5" fmla="*/ 3419856 w 3964392"/>
              <a:gd name="connsiteY5" fmla="*/ 74450 h 3415968"/>
              <a:gd name="connsiteX6" fmla="*/ 3419856 w 3964392"/>
              <a:gd name="connsiteY6" fmla="*/ 3354550 h 3415968"/>
              <a:gd name="connsiteX7" fmla="*/ 3398050 w 3964392"/>
              <a:gd name="connsiteY7" fmla="*/ 3407194 h 3415968"/>
              <a:gd name="connsiteX8" fmla="*/ 21806 w 3964392"/>
              <a:gd name="connsiteY8" fmla="*/ 3407194 h 3415968"/>
              <a:gd name="connsiteX9" fmla="*/ 0 w 3964392"/>
              <a:gd name="connsiteY9" fmla="*/ 3354550 h 3415968"/>
              <a:gd name="connsiteX10" fmla="*/ 0 w 3964392"/>
              <a:gd name="connsiteY10" fmla="*/ 74450 h 3415968"/>
              <a:gd name="connsiteX0" fmla="*/ 0 w 3968026"/>
              <a:gd name="connsiteY0" fmla="*/ 74450 h 3910007"/>
              <a:gd name="connsiteX1" fmla="*/ 21806 w 3968026"/>
              <a:gd name="connsiteY1" fmla="*/ 21806 h 3910007"/>
              <a:gd name="connsiteX2" fmla="*/ 74450 w 3968026"/>
              <a:gd name="connsiteY2" fmla="*/ 0 h 3910007"/>
              <a:gd name="connsiteX3" fmla="*/ 3345406 w 3968026"/>
              <a:gd name="connsiteY3" fmla="*/ 0 h 3910007"/>
              <a:gd name="connsiteX4" fmla="*/ 3398050 w 3968026"/>
              <a:gd name="connsiteY4" fmla="*/ 21806 h 3910007"/>
              <a:gd name="connsiteX5" fmla="*/ 3419856 w 3968026"/>
              <a:gd name="connsiteY5" fmla="*/ 74450 h 3910007"/>
              <a:gd name="connsiteX6" fmla="*/ 3419856 w 3968026"/>
              <a:gd name="connsiteY6" fmla="*/ 3354550 h 3910007"/>
              <a:gd name="connsiteX7" fmla="*/ 3398050 w 3968026"/>
              <a:gd name="connsiteY7" fmla="*/ 3407194 h 3910007"/>
              <a:gd name="connsiteX8" fmla="*/ 0 w 3968026"/>
              <a:gd name="connsiteY8" fmla="*/ 3354550 h 3910007"/>
              <a:gd name="connsiteX9" fmla="*/ 0 w 3968026"/>
              <a:gd name="connsiteY9" fmla="*/ 74450 h 3910007"/>
              <a:gd name="connsiteX0" fmla="*/ 0 w 3419856"/>
              <a:gd name="connsiteY0" fmla="*/ 74450 h 3901233"/>
              <a:gd name="connsiteX1" fmla="*/ 21806 w 3419856"/>
              <a:gd name="connsiteY1" fmla="*/ 21806 h 3901233"/>
              <a:gd name="connsiteX2" fmla="*/ 74450 w 3419856"/>
              <a:gd name="connsiteY2" fmla="*/ 0 h 3901233"/>
              <a:gd name="connsiteX3" fmla="*/ 3345406 w 3419856"/>
              <a:gd name="connsiteY3" fmla="*/ 0 h 3901233"/>
              <a:gd name="connsiteX4" fmla="*/ 3398050 w 3419856"/>
              <a:gd name="connsiteY4" fmla="*/ 21806 h 3901233"/>
              <a:gd name="connsiteX5" fmla="*/ 3419856 w 3419856"/>
              <a:gd name="connsiteY5" fmla="*/ 74450 h 3901233"/>
              <a:gd name="connsiteX6" fmla="*/ 3419856 w 3419856"/>
              <a:gd name="connsiteY6" fmla="*/ 3354550 h 3901233"/>
              <a:gd name="connsiteX7" fmla="*/ 0 w 3419856"/>
              <a:gd name="connsiteY7" fmla="*/ 3354550 h 3901233"/>
              <a:gd name="connsiteX8" fmla="*/ 0 w 3419856"/>
              <a:gd name="connsiteY8" fmla="*/ 74450 h 3901233"/>
              <a:gd name="connsiteX0" fmla="*/ 0 w 3419856"/>
              <a:gd name="connsiteY0" fmla="*/ 74450 h 3354550"/>
              <a:gd name="connsiteX1" fmla="*/ 21806 w 3419856"/>
              <a:gd name="connsiteY1" fmla="*/ 21806 h 3354550"/>
              <a:gd name="connsiteX2" fmla="*/ 74450 w 3419856"/>
              <a:gd name="connsiteY2" fmla="*/ 0 h 3354550"/>
              <a:gd name="connsiteX3" fmla="*/ 3345406 w 3419856"/>
              <a:gd name="connsiteY3" fmla="*/ 0 h 3354550"/>
              <a:gd name="connsiteX4" fmla="*/ 3398050 w 3419856"/>
              <a:gd name="connsiteY4" fmla="*/ 21806 h 3354550"/>
              <a:gd name="connsiteX5" fmla="*/ 3419856 w 3419856"/>
              <a:gd name="connsiteY5" fmla="*/ 74450 h 3354550"/>
              <a:gd name="connsiteX6" fmla="*/ 3419856 w 3419856"/>
              <a:gd name="connsiteY6" fmla="*/ 3354550 h 3354550"/>
              <a:gd name="connsiteX7" fmla="*/ 0 w 3419856"/>
              <a:gd name="connsiteY7" fmla="*/ 3354550 h 3354550"/>
              <a:gd name="connsiteX8" fmla="*/ 0 w 3419856"/>
              <a:gd name="connsiteY8" fmla="*/ 74450 h 3354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19856" h="3354550">
                <a:moveTo>
                  <a:pt x="0" y="74450"/>
                </a:moveTo>
                <a:cubicBezTo>
                  <a:pt x="0" y="54705"/>
                  <a:pt x="7844" y="35768"/>
                  <a:pt x="21806" y="21806"/>
                </a:cubicBezTo>
                <a:cubicBezTo>
                  <a:pt x="35768" y="7844"/>
                  <a:pt x="54705" y="0"/>
                  <a:pt x="74450" y="0"/>
                </a:cubicBezTo>
                <a:lnTo>
                  <a:pt x="3345406" y="0"/>
                </a:lnTo>
                <a:cubicBezTo>
                  <a:pt x="3365151" y="0"/>
                  <a:pt x="3384088" y="7844"/>
                  <a:pt x="3398050" y="21806"/>
                </a:cubicBezTo>
                <a:cubicBezTo>
                  <a:pt x="3412012" y="35768"/>
                  <a:pt x="3419856" y="54705"/>
                  <a:pt x="3419856" y="74450"/>
                </a:cubicBezTo>
                <a:lnTo>
                  <a:pt x="3419856" y="3354550"/>
                </a:lnTo>
                <a:lnTo>
                  <a:pt x="0" y="3354550"/>
                </a:lnTo>
                <a:lnTo>
                  <a:pt x="0" y="74450"/>
                </a:lnTo>
                <a:close/>
              </a:path>
            </a:pathLst>
          </a:custGeom>
        </p:spPr>
        <p:txBody>
          <a:bodyPr>
            <a:normAutofit/>
          </a:bodyPr>
          <a:lstStyle>
            <a:lvl1pPr marL="0" indent="0" algn="ctr">
              <a:buNone/>
              <a:defRPr sz="2000" baseline="0">
                <a:solidFill>
                  <a:schemeClr val="tx1">
                    <a:lumMod val="6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smtClean="0"/>
              <a:t>Resim eklemek için simgeyi tıklatın</a:t>
            </a:r>
            <a:endParaRPr lang="en-US" dirty="0"/>
          </a:p>
        </p:txBody>
      </p:sp>
      <p:sp>
        <p:nvSpPr>
          <p:cNvPr id="4" name="Text Placeholder 3"/>
          <p:cNvSpPr>
            <a:spLocks noGrp="1"/>
          </p:cNvSpPr>
          <p:nvPr>
            <p:ph type="body" sz="half" idx="2"/>
          </p:nvPr>
        </p:nvSpPr>
        <p:spPr>
          <a:xfrm>
            <a:off x="609600" y="2547890"/>
            <a:ext cx="2971800" cy="2405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Date Placeholder 4"/>
          <p:cNvSpPr>
            <a:spLocks noGrp="1"/>
          </p:cNvSpPr>
          <p:nvPr>
            <p:ph type="dt" sz="half" idx="10"/>
          </p:nvPr>
        </p:nvSpPr>
        <p:spPr/>
        <p:txBody>
          <a:bodyPr/>
          <a:lstStyle/>
          <a:p>
            <a:fld id="{A23720DD-5B6D-40BF-8493-A6B52D484E6B}" type="datetimeFigureOut">
              <a:rPr lang="tr-TR" smtClean="0"/>
              <a:t>26.05.2026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dirty="0"/>
          </a:p>
        </p:txBody>
      </p:sp>
      <p:sp>
        <p:nvSpPr>
          <p:cNvPr id="3" name="Vertical Text Placeholder 2"/>
          <p:cNvSpPr>
            <a:spLocks noGrp="1"/>
          </p:cNvSpPr>
          <p:nvPr>
            <p:ph type="body" orient="vert" idx="1"/>
          </p:nvPr>
        </p:nvSpPr>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Date Placeholder 3"/>
          <p:cNvSpPr>
            <a:spLocks noGrp="1"/>
          </p:cNvSpPr>
          <p:nvPr>
            <p:ph type="dt" sz="half" idx="10"/>
          </p:nvPr>
        </p:nvSpPr>
        <p:spPr/>
        <p:txBody>
          <a:bodyPr/>
          <a:lstStyle/>
          <a:p>
            <a:fld id="{A23720DD-5B6D-40BF-8493-A6B52D484E6B}" type="datetimeFigureOut">
              <a:rPr lang="tr-TR" smtClean="0"/>
              <a:t>26.05.2026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tr-TR" smtClean="0"/>
              <a:t>Asıl başlık stili için tıklatın</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Date Placeholder 3"/>
          <p:cNvSpPr>
            <a:spLocks noGrp="1"/>
          </p:cNvSpPr>
          <p:nvPr>
            <p:ph type="dt" sz="half" idx="10"/>
          </p:nvPr>
        </p:nvSpPr>
        <p:spPr/>
        <p:txBody>
          <a:bodyPr/>
          <a:lstStyle/>
          <a:p>
            <a:fld id="{A23720DD-5B6D-40BF-8493-A6B52D484E6B}" type="datetimeFigureOut">
              <a:rPr lang="tr-TR" smtClean="0"/>
              <a:t>26.05.2026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13" cstate="print"/>
          <a:stretch>
            <a:fillRect/>
          </a:stretch>
        </p:blipFill>
        <p:spPr>
          <a:xfrm>
            <a:off x="0" y="0"/>
            <a:ext cx="9144000" cy="6858000"/>
          </a:xfrm>
          <a:prstGeom prst="rect">
            <a:avLst/>
          </a:prstGeom>
        </p:spPr>
      </p:pic>
      <p:sp>
        <p:nvSpPr>
          <p:cNvPr id="2" name="Title Placeholder 1"/>
          <p:cNvSpPr>
            <a:spLocks noGrp="1"/>
          </p:cNvSpPr>
          <p:nvPr>
            <p:ph type="title"/>
          </p:nvPr>
        </p:nvSpPr>
        <p:spPr>
          <a:xfrm>
            <a:off x="609600" y="274638"/>
            <a:ext cx="7924800" cy="1143000"/>
          </a:xfrm>
          <a:prstGeom prst="rect">
            <a:avLst/>
          </a:prstGeom>
        </p:spPr>
        <p:txBody>
          <a:bodyPr vert="horz" lIns="91440" tIns="45720" rIns="91440" bIns="45720" rtlCol="0" anchor="b" anchorCtr="0">
            <a:noAutofit/>
          </a:bodyPr>
          <a:lstStyle/>
          <a:p>
            <a:r>
              <a:rPr lang="tr-TR" smtClean="0"/>
              <a:t>Asıl başlık stili için tıklatın</a:t>
            </a:r>
            <a:endParaRPr lang="en-US" dirty="0"/>
          </a:p>
        </p:txBody>
      </p:sp>
      <p:sp>
        <p:nvSpPr>
          <p:cNvPr id="3" name="Text Placeholder 2"/>
          <p:cNvSpPr>
            <a:spLocks noGrp="1"/>
          </p:cNvSpPr>
          <p:nvPr>
            <p:ph type="body" idx="1"/>
          </p:nvPr>
        </p:nvSpPr>
        <p:spPr>
          <a:xfrm>
            <a:off x="609600" y="1600200"/>
            <a:ext cx="7924800" cy="4525963"/>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smtClean="0"/>
          </a:p>
        </p:txBody>
      </p:sp>
      <p:sp>
        <p:nvSpPr>
          <p:cNvPr id="4" name="Date Placeholder 3"/>
          <p:cNvSpPr>
            <a:spLocks noGrp="1"/>
          </p:cNvSpPr>
          <p:nvPr>
            <p:ph type="dt" sz="half" idx="2"/>
          </p:nvPr>
        </p:nvSpPr>
        <p:spPr>
          <a:xfrm>
            <a:off x="5715000" y="6356350"/>
            <a:ext cx="1524000" cy="365125"/>
          </a:xfrm>
          <a:prstGeom prst="rect">
            <a:avLst/>
          </a:prstGeom>
        </p:spPr>
        <p:txBody>
          <a:bodyPr vert="horz" lIns="91440" tIns="45720" rIns="91440" bIns="45720" rtlCol="0" anchor="ctr"/>
          <a:lstStyle>
            <a:lvl1pPr algn="r">
              <a:defRPr sz="1000" strike="noStrike" spc="60" baseline="0">
                <a:solidFill>
                  <a:schemeClr val="tx1"/>
                </a:solidFill>
              </a:defRPr>
            </a:lvl1pPr>
          </a:lstStyle>
          <a:p>
            <a:fld id="{A23720DD-5B6D-40BF-8493-A6B52D484E6B}" type="datetimeFigureOut">
              <a:rPr lang="tr-TR" smtClean="0"/>
              <a:t>26.05.2026</a:t>
            </a:fld>
            <a:endParaRPr lang="tr-TR"/>
          </a:p>
        </p:txBody>
      </p:sp>
      <p:sp>
        <p:nvSpPr>
          <p:cNvPr id="5" name="Footer Placeholder 4"/>
          <p:cNvSpPr>
            <a:spLocks noGrp="1"/>
          </p:cNvSpPr>
          <p:nvPr>
            <p:ph type="ftr" sz="quarter" idx="3"/>
          </p:nvPr>
        </p:nvSpPr>
        <p:spPr>
          <a:xfrm>
            <a:off x="609600" y="6356350"/>
            <a:ext cx="2895600" cy="365125"/>
          </a:xfrm>
          <a:prstGeom prst="rect">
            <a:avLst/>
          </a:prstGeom>
        </p:spPr>
        <p:txBody>
          <a:bodyPr vert="horz" lIns="91440" tIns="45720" rIns="91440" bIns="45720" rtlCol="0" anchor="ctr"/>
          <a:lstStyle>
            <a:lvl1pPr algn="l">
              <a:defRPr sz="1000" cap="all" spc="60" baseline="0">
                <a:solidFill>
                  <a:schemeClr val="tx1"/>
                </a:solidFill>
              </a:defRPr>
            </a:lvl1pPr>
          </a:lstStyle>
          <a:p>
            <a:endParaRPr lang="tr-TR"/>
          </a:p>
        </p:txBody>
      </p:sp>
      <p:sp>
        <p:nvSpPr>
          <p:cNvPr id="6" name="Slide Number Placeholder 5"/>
          <p:cNvSpPr>
            <a:spLocks noGrp="1"/>
          </p:cNvSpPr>
          <p:nvPr>
            <p:ph type="sldNum" sz="quarter" idx="4"/>
          </p:nvPr>
        </p:nvSpPr>
        <p:spPr>
          <a:xfrm>
            <a:off x="7543800" y="6356350"/>
            <a:ext cx="990600" cy="365125"/>
          </a:xfrm>
          <a:prstGeom prst="rect">
            <a:avLst/>
          </a:prstGeom>
        </p:spPr>
        <p:txBody>
          <a:bodyPr vert="horz" lIns="91440" tIns="45720" rIns="91440" bIns="45720" rtlCol="0" anchor="ctr"/>
          <a:lstStyle>
            <a:lvl1pPr algn="r">
              <a:defRPr sz="1100" baseline="0">
                <a:solidFill>
                  <a:schemeClr val="tx1"/>
                </a:solidFill>
              </a:defRPr>
            </a:lvl1pPr>
          </a:lstStyle>
          <a:p>
            <a:fld id="{F302176B-0E47-46AC-8F43-DAB4B8A37D06}" type="slidenum">
              <a:rPr lang="tr-TR" smtClean="0"/>
              <a:t>‹#›</a:t>
            </a:fld>
            <a:endParaRPr lang="tr-TR"/>
          </a:p>
        </p:txBody>
      </p:sp>
    </p:spTree>
  </p:cSld>
  <p:clrMap bg1="dk1" tx1="lt1" bg2="dk2" tx2="lt2" accent1="accent1" accent2="accent2" accent3="accent3" accent4="accent4" accent5="accent5" accent6="accent6" hlink="hlink" folHlink="folHlink"/>
  <p:sldLayoutIdLst>
    <p:sldLayoutId id="2147483901" r:id="rId1"/>
    <p:sldLayoutId id="2147483902" r:id="rId2"/>
    <p:sldLayoutId id="2147483903" r:id="rId3"/>
    <p:sldLayoutId id="2147483904" r:id="rId4"/>
    <p:sldLayoutId id="2147483905" r:id="rId5"/>
    <p:sldLayoutId id="2147483906" r:id="rId6"/>
    <p:sldLayoutId id="2147483907" r:id="rId7"/>
    <p:sldLayoutId id="2147483908" r:id="rId8"/>
    <p:sldLayoutId id="2147483909" r:id="rId9"/>
    <p:sldLayoutId id="2147483910" r:id="rId10"/>
    <p:sldLayoutId id="2147483911" r:id="rId11"/>
  </p:sldLayoutIdLst>
  <p:txStyles>
    <p:titleStyle>
      <a:lvl1pPr algn="l" defTabSz="914400" rtl="0" eaLnBrk="1" latinLnBrk="0" hangingPunct="1">
        <a:spcBef>
          <a:spcPct val="0"/>
        </a:spcBef>
        <a:buNone/>
        <a:defRPr sz="3000" kern="1200" cap="all" spc="50"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1pPr>
      <a:lvl2pPr marL="742950" indent="-28575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2pPr>
      <a:lvl3pPr marL="11430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3pPr>
      <a:lvl4pPr marL="16002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4pPr>
      <a:lvl5pPr marL="20574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5pPr>
      <a:lvl6pPr marL="25146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6pPr>
      <a:lvl7pPr marL="29718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7pPr>
      <a:lvl8pPr marL="34290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8pPr>
      <a:lvl9pPr marL="38862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hyperlink" Target="mailto:medium.com/@sebuzdugan/gpt-2-vs-modern-llms-what-too-dangerous-looked-like-in-2019-ffa313366607" TargetMode="External"/><Relationship Id="rId3" Type="http://schemas.openxmlformats.org/officeDocument/2006/relationships/hyperlink" Target="https://www-cdn.anthropic.com/8b8380204f74670be75e81c820ca8dda846ab289.pdf" TargetMode="External"/><Relationship Id="rId7" Type="http://schemas.openxmlformats.org/officeDocument/2006/relationships/hyperlink" Target="https://youtu.be/t24iowTP1bI?si=pxUEIcUDIIyPk2FF" TargetMode="External"/><Relationship Id="rId2" Type="http://schemas.openxmlformats.org/officeDocument/2006/relationships/hyperlink" Target="http://www.anthropic.com/glasswing" TargetMode="External"/><Relationship Id="rId1" Type="http://schemas.openxmlformats.org/officeDocument/2006/relationships/slideLayout" Target="../slideLayouts/slideLayout2.xml"/><Relationship Id="rId6" Type="http://schemas.openxmlformats.org/officeDocument/2006/relationships/hyperlink" Target="https://youtu.be/V6pgZKVcKpw?si=DtkVIolgQsL0RjRf" TargetMode="External"/><Relationship Id="rId5" Type="http://schemas.openxmlformats.org/officeDocument/2006/relationships/hyperlink" Target="https://youtu.be/RDUGbxslOcM?si=wzFNFIXYvzMPGong" TargetMode="External"/><Relationship Id="rId10" Type="http://schemas.openxmlformats.org/officeDocument/2006/relationships/hyperlink" Target="http://www.researchgate.net/publication/404019837_From_GPT-2_to_Claude_Mythos_How_Too_Dangerous_to_Release_Narratives_Shape_Perceptions_of_Frontier_AI" TargetMode="External"/><Relationship Id="rId4" Type="http://schemas.openxmlformats.org/officeDocument/2006/relationships/hyperlink" Target="https://www-cdn.anthropic.com/3edfc1a7f947aa81841cf88305cb513f184c36ae.pdf" TargetMode="External"/><Relationship Id="rId9" Type="http://schemas.openxmlformats.org/officeDocument/2006/relationships/hyperlink" Target="http://www.bbc.com/news/articles/crk1py1jgzk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etin kutusu 4"/>
          <p:cNvSpPr txBox="1"/>
          <p:nvPr/>
        </p:nvSpPr>
        <p:spPr>
          <a:xfrm>
            <a:off x="0" y="3721044"/>
            <a:ext cx="9144000" cy="461665"/>
          </a:xfrm>
          <a:prstGeom prst="rect">
            <a:avLst/>
          </a:prstGeom>
          <a:noFill/>
        </p:spPr>
        <p:txBody>
          <a:bodyPr wrap="square" rtlCol="0">
            <a:spAutoFit/>
          </a:bodyPr>
          <a:lstStyle/>
          <a:p>
            <a:pPr algn="ctr"/>
            <a:r>
              <a:rPr lang="en-US" sz="2400" dirty="0" err="1" smtClean="0">
                <a:latin typeface="Times New Roman" pitchFamily="18" charset="0"/>
                <a:cs typeface="Times New Roman" pitchFamily="18" charset="0"/>
              </a:rPr>
              <a:t>Laboratory</a:t>
            </a:r>
            <a:r>
              <a:rPr lang="en-US" sz="2400" dirty="0" smtClean="0">
                <a:latin typeface="Times New Roman" pitchFamily="18" charset="0"/>
                <a:cs typeface="Times New Roman" pitchFamily="18" charset="0"/>
              </a:rPr>
              <a:t> work of </a:t>
            </a:r>
            <a:r>
              <a:rPr lang="az-Latn-AZ" sz="2400" dirty="0" smtClean="0">
                <a:latin typeface="Times New Roman" pitchFamily="18" charset="0"/>
                <a:cs typeface="Times New Roman" pitchFamily="18" charset="0"/>
              </a:rPr>
              <a:t>AzUAC</a:t>
            </a:r>
            <a:r>
              <a:rPr lang="en-US" sz="2400" dirty="0" smtClean="0">
                <a:latin typeface="Times New Roman" pitchFamily="18" charset="0"/>
                <a:cs typeface="Times New Roman" pitchFamily="18" charset="0"/>
              </a:rPr>
              <a:t> Cyber Security student </a:t>
            </a:r>
            <a:r>
              <a:rPr lang="az-Latn-AZ" sz="2400" u="sng" dirty="0" smtClean="0">
                <a:effectLst>
                  <a:outerShdw blurRad="38100" dist="38100" dir="2700000" algn="tl">
                    <a:srgbClr val="000000">
                      <a:alpha val="43137"/>
                    </a:srgbClr>
                  </a:outerShdw>
                </a:effectLst>
                <a:latin typeface="Times New Roman" pitchFamily="18" charset="0"/>
                <a:cs typeface="Times New Roman" pitchFamily="18" charset="0"/>
              </a:rPr>
              <a:t>Yusif</a:t>
            </a:r>
            <a:r>
              <a:rPr lang="en-US" sz="2400" u="sng" dirty="0" smtClean="0">
                <a:effectLst>
                  <a:outerShdw blurRad="38100" dist="38100" dir="2700000" algn="tl">
                    <a:srgbClr val="000000">
                      <a:alpha val="43137"/>
                    </a:srgbClr>
                  </a:outerShdw>
                </a:effectLst>
                <a:latin typeface="Times New Roman" pitchFamily="18" charset="0"/>
                <a:cs typeface="Times New Roman" pitchFamily="18" charset="0"/>
              </a:rPr>
              <a:t> </a:t>
            </a:r>
            <a:r>
              <a:rPr lang="az-Latn-AZ" sz="2400" u="sng" dirty="0" smtClean="0">
                <a:effectLst>
                  <a:outerShdw blurRad="38100" dist="38100" dir="2700000" algn="tl">
                    <a:srgbClr val="000000">
                      <a:alpha val="43137"/>
                    </a:srgbClr>
                  </a:outerShdw>
                </a:effectLst>
                <a:latin typeface="Times New Roman" pitchFamily="18" charset="0"/>
                <a:cs typeface="Times New Roman" pitchFamily="18" charset="0"/>
              </a:rPr>
              <a:t>Samadov </a:t>
            </a:r>
            <a:endParaRPr lang="az-Latn-AZ" sz="2400" u="sng"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10" name="Metin kutusu 9"/>
          <p:cNvSpPr txBox="1"/>
          <p:nvPr/>
        </p:nvSpPr>
        <p:spPr>
          <a:xfrm>
            <a:off x="0" y="4182708"/>
            <a:ext cx="9143999" cy="461665"/>
          </a:xfrm>
          <a:prstGeom prst="rect">
            <a:avLst/>
          </a:prstGeom>
          <a:noFill/>
        </p:spPr>
        <p:txBody>
          <a:bodyPr wrap="square" rtlCol="0">
            <a:spAutoFit/>
          </a:bodyPr>
          <a:lstStyle/>
          <a:p>
            <a:pPr algn="ctr"/>
            <a:r>
              <a:rPr lang="az-Latn-AZ" sz="2400" dirty="0" smtClean="0">
                <a:latin typeface="Times New Roman" pitchFamily="18" charset="0"/>
                <a:cs typeface="Times New Roman" pitchFamily="18" charset="0"/>
              </a:rPr>
              <a:t>Teacher : </a:t>
            </a:r>
            <a:r>
              <a:rPr lang="en-US" sz="2400" dirty="0" smtClean="0">
                <a:latin typeface="Times New Roman" pitchFamily="18" charset="0"/>
                <a:cs typeface="Times New Roman" pitchFamily="18" charset="0"/>
              </a:rPr>
              <a:t>PhD. </a:t>
            </a:r>
            <a:r>
              <a:rPr lang="en-US" sz="2400" dirty="0" err="1" smtClean="0">
                <a:latin typeface="Times New Roman" pitchFamily="18" charset="0"/>
                <a:cs typeface="Times New Roman" pitchFamily="18" charset="0"/>
              </a:rPr>
              <a:t>Toghrul</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Karimov</a:t>
            </a:r>
            <a:endParaRPr lang="az-Latn-AZ" sz="2400" dirty="0">
              <a:latin typeface="Times New Roman" pitchFamily="18" charset="0"/>
              <a:cs typeface="Times New Roman" pitchFamily="18" charset="0"/>
            </a:endParaRPr>
          </a:p>
        </p:txBody>
      </p:sp>
      <p:sp>
        <p:nvSpPr>
          <p:cNvPr id="11" name="Metin kutusu 10"/>
          <p:cNvSpPr txBox="1"/>
          <p:nvPr/>
        </p:nvSpPr>
        <p:spPr>
          <a:xfrm>
            <a:off x="0" y="4644373"/>
            <a:ext cx="9144000" cy="461665"/>
          </a:xfrm>
          <a:prstGeom prst="rect">
            <a:avLst/>
          </a:prstGeom>
          <a:noFill/>
        </p:spPr>
        <p:txBody>
          <a:bodyPr wrap="square" rtlCol="0">
            <a:spAutoFit/>
          </a:bodyPr>
          <a:lstStyle/>
          <a:p>
            <a:pPr algn="ctr"/>
            <a:r>
              <a:rPr lang="en-US" sz="2400" dirty="0" smtClean="0">
                <a:latin typeface="Times New Roman" pitchFamily="18" charset="0"/>
                <a:cs typeface="Times New Roman" pitchFamily="18" charset="0"/>
              </a:rPr>
              <a:t>Subject : </a:t>
            </a:r>
            <a:r>
              <a:rPr lang="en-US" sz="2400" dirty="0" err="1" smtClean="0">
                <a:latin typeface="Times New Roman" pitchFamily="18" charset="0"/>
                <a:cs typeface="Times New Roman" pitchFamily="18" charset="0"/>
              </a:rPr>
              <a:t>Principles</a:t>
            </a:r>
            <a:r>
              <a:rPr lang="en-US" sz="2400" dirty="0" smtClean="0">
                <a:latin typeface="Times New Roman" pitchFamily="18" charset="0"/>
                <a:cs typeface="Times New Roman" pitchFamily="18" charset="0"/>
              </a:rPr>
              <a:t> of Cybersecurity</a:t>
            </a:r>
          </a:p>
        </p:txBody>
      </p:sp>
      <p:sp>
        <p:nvSpPr>
          <p:cNvPr id="13" name="Metin kutusu 12"/>
          <p:cNvSpPr txBox="1"/>
          <p:nvPr/>
        </p:nvSpPr>
        <p:spPr>
          <a:xfrm>
            <a:off x="809390" y="1221005"/>
            <a:ext cx="1386345" cy="523220"/>
          </a:xfrm>
          <a:prstGeom prst="rect">
            <a:avLst/>
          </a:prstGeom>
          <a:noFill/>
        </p:spPr>
        <p:txBody>
          <a:bodyPr wrap="square" rtlCol="0">
            <a:spAutoFit/>
          </a:bodyPr>
          <a:lstStyle/>
          <a:p>
            <a:r>
              <a:rPr lang="en-US" sz="2800" dirty="0" smtClean="0">
                <a:latin typeface="Times New Roman" pitchFamily="18" charset="0"/>
                <a:cs typeface="Times New Roman" pitchFamily="18" charset="0"/>
              </a:rPr>
              <a:t>Topic:</a:t>
            </a:r>
            <a:endParaRPr lang="az-Latn-AZ" sz="2800" dirty="0">
              <a:latin typeface="Times New Roman" pitchFamily="18" charset="0"/>
              <a:cs typeface="Times New Roman" pitchFamily="18" charset="0"/>
            </a:endParaRPr>
          </a:p>
        </p:txBody>
      </p:sp>
      <p:sp>
        <p:nvSpPr>
          <p:cNvPr id="14" name="Metin kutusu 13"/>
          <p:cNvSpPr txBox="1"/>
          <p:nvPr/>
        </p:nvSpPr>
        <p:spPr>
          <a:xfrm>
            <a:off x="0" y="1772816"/>
            <a:ext cx="9144000" cy="1569660"/>
          </a:xfrm>
          <a:prstGeom prst="rect">
            <a:avLst/>
          </a:prstGeom>
          <a:noFill/>
        </p:spPr>
        <p:txBody>
          <a:bodyPr wrap="square" rtlCol="0">
            <a:spAutoFit/>
          </a:bodyPr>
          <a:lstStyle/>
          <a:p>
            <a:pPr algn="ctr"/>
            <a:r>
              <a:rPr lang="en-US" sz="4800" b="1" i="1" dirty="0" smtClean="0">
                <a:solidFill>
                  <a:srgbClr val="FA6500"/>
                </a:solidFill>
                <a:effectLst>
                  <a:outerShdw blurRad="38100" dist="38100" dir="2700000" algn="tl">
                    <a:srgbClr val="000000">
                      <a:alpha val="43137"/>
                    </a:srgbClr>
                  </a:outerShdw>
                </a:effectLst>
                <a:latin typeface="Times New Roman" pitchFamily="18" charset="0"/>
                <a:cs typeface="Times New Roman" pitchFamily="18" charset="0"/>
              </a:rPr>
              <a:t>Anthropic Mythos </a:t>
            </a:r>
          </a:p>
          <a:p>
            <a:pPr algn="ctr"/>
            <a:r>
              <a:rPr lang="en-US" sz="4800" i="1" dirty="0" smtClean="0">
                <a:solidFill>
                  <a:schemeClr val="accent1">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consequences for </a:t>
            </a:r>
            <a:r>
              <a:rPr lang="en-US" sz="4800" i="1" dirty="0" smtClean="0">
                <a:solidFill>
                  <a:srgbClr val="00B0F0"/>
                </a:solidFill>
                <a:effectLst>
                  <a:outerShdw blurRad="38100" dist="38100" dir="2700000" algn="tl">
                    <a:srgbClr val="000000">
                      <a:alpha val="43137"/>
                    </a:srgbClr>
                  </a:outerShdw>
                </a:effectLst>
                <a:latin typeface="Times New Roman" pitchFamily="18" charset="0"/>
                <a:cs typeface="Times New Roman" pitchFamily="18" charset="0"/>
              </a:rPr>
              <a:t>cybersecurity</a:t>
            </a:r>
            <a:endParaRPr lang="az-Latn-AZ" sz="4800" i="1" dirty="0">
              <a:solidFill>
                <a:srgbClr val="00B0F0"/>
              </a:solidFill>
              <a:effectLst>
                <a:outerShdw blurRad="38100" dist="38100" dir="2700000" algn="tl">
                  <a:srgbClr val="000000">
                    <a:alpha val="43137"/>
                  </a:srgbClr>
                </a:outerShdw>
              </a:effectLst>
              <a:latin typeface="Times New Roman" pitchFamily="18" charset="0"/>
              <a:cs typeface="Times New Roman" pitchFamily="18"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96336" y="69382"/>
            <a:ext cx="1440160" cy="1241770"/>
          </a:xfrm>
          <a:prstGeom prst="rect">
            <a:avLst/>
          </a:prstGeom>
        </p:spPr>
      </p:pic>
    </p:spTree>
    <p:extLst>
      <p:ext uri="{BB962C8B-B14F-4D97-AF65-F5344CB8AC3E}">
        <p14:creationId xmlns:p14="http://schemas.microsoft.com/office/powerpoint/2010/main" val="301343427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p:cNvSpPr txBox="1"/>
          <p:nvPr/>
        </p:nvSpPr>
        <p:spPr>
          <a:xfrm>
            <a:off x="813440" y="186361"/>
            <a:ext cx="7672793" cy="830997"/>
          </a:xfrm>
          <a:prstGeom prst="rect">
            <a:avLst/>
          </a:prstGeom>
          <a:noFill/>
        </p:spPr>
        <p:txBody>
          <a:bodyPr wrap="square" rtlCol="0">
            <a:spAutoFit/>
          </a:bodyPr>
          <a:lstStyle/>
          <a:p>
            <a:pPr algn="ctr"/>
            <a:r>
              <a:rPr lang="en-US" sz="4800" i="1" dirty="0" smtClean="0">
                <a:solidFill>
                  <a:srgbClr val="00B0F0"/>
                </a:solidFill>
                <a:effectLst>
                  <a:outerShdw blurRad="38100" dist="38100" dir="2700000" algn="tl">
                    <a:srgbClr val="000000">
                      <a:alpha val="43137"/>
                    </a:srgbClr>
                  </a:outerShdw>
                </a:effectLst>
                <a:latin typeface="Times New Roman" pitchFamily="18" charset="0"/>
                <a:cs typeface="Times New Roman" pitchFamily="18" charset="0"/>
              </a:rPr>
              <a:t>Contents </a:t>
            </a:r>
            <a:r>
              <a:rPr lang="en-US" sz="4800" i="1" dirty="0" smtClean="0">
                <a:solidFill>
                  <a:schemeClr val="accent1">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of the</a:t>
            </a:r>
            <a:r>
              <a:rPr lang="en-US" sz="4800" i="1" dirty="0" smtClean="0">
                <a:solidFill>
                  <a:srgbClr val="00B0F0"/>
                </a:solidFill>
                <a:effectLst>
                  <a:outerShdw blurRad="38100" dist="38100" dir="2700000" algn="tl">
                    <a:srgbClr val="000000">
                      <a:alpha val="43137"/>
                    </a:srgbClr>
                  </a:outerShdw>
                </a:effectLst>
                <a:latin typeface="Times New Roman" pitchFamily="18" charset="0"/>
                <a:cs typeface="Times New Roman" pitchFamily="18" charset="0"/>
              </a:rPr>
              <a:t> Presentation</a:t>
            </a:r>
            <a:endParaRPr lang="az-Latn-AZ" sz="4800" i="1" dirty="0">
              <a:solidFill>
                <a:srgbClr val="00B0F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Metin kutusu 2"/>
          <p:cNvSpPr txBox="1"/>
          <p:nvPr/>
        </p:nvSpPr>
        <p:spPr>
          <a:xfrm>
            <a:off x="1229395" y="1593333"/>
            <a:ext cx="6840882" cy="3785652"/>
          </a:xfrm>
          <a:prstGeom prst="rect">
            <a:avLst/>
          </a:prstGeom>
          <a:noFill/>
        </p:spPr>
        <p:txBody>
          <a:bodyPr wrap="square" rtlCol="0">
            <a:spAutoFit/>
          </a:bodyPr>
          <a:lstStyle/>
          <a:p>
            <a:pPr marL="457200" indent="-457200">
              <a:buAutoNum type="arabicPeriod"/>
            </a:pPr>
            <a:r>
              <a:rPr lang="en-US" sz="2000" dirty="0" smtClean="0">
                <a:latin typeface="Consolas" pitchFamily="49" charset="0"/>
                <a:cs typeface="Consolas" pitchFamily="49" charset="0"/>
              </a:rPr>
              <a:t>Introduction</a:t>
            </a:r>
          </a:p>
          <a:p>
            <a:pPr marL="457200" indent="-457200">
              <a:buAutoNum type="arabicPeriod"/>
            </a:pPr>
            <a:r>
              <a:rPr lang="en-US" sz="2000" dirty="0" smtClean="0">
                <a:latin typeface="Consolas" pitchFamily="49" charset="0"/>
                <a:cs typeface="Consolas" pitchFamily="49" charset="0"/>
              </a:rPr>
              <a:t>New amazing AI model</a:t>
            </a:r>
          </a:p>
          <a:p>
            <a:pPr marL="914400" lvl="1" indent="-457200">
              <a:buFont typeface="Wingdings" panose="05000000000000000000" pitchFamily="2" charset="2"/>
              <a:buChar char="Ø"/>
            </a:pPr>
            <a:r>
              <a:rPr lang="en-US" sz="2000" dirty="0" smtClean="0">
                <a:latin typeface="Consolas" pitchFamily="49" charset="0"/>
                <a:cs typeface="Consolas" pitchFamily="49" charset="0"/>
              </a:rPr>
              <a:t>Main differences</a:t>
            </a:r>
          </a:p>
          <a:p>
            <a:pPr marL="914400" lvl="1" indent="-457200">
              <a:buFont typeface="Wingdings" panose="05000000000000000000" pitchFamily="2" charset="2"/>
              <a:buChar char="Ø"/>
            </a:pPr>
            <a:r>
              <a:rPr lang="en-US" sz="2000" dirty="0" smtClean="0">
                <a:latin typeface="Consolas" pitchFamily="49" charset="0"/>
                <a:cs typeface="Consolas" pitchFamily="49" charset="0"/>
              </a:rPr>
              <a:t>Best results</a:t>
            </a:r>
          </a:p>
          <a:p>
            <a:pPr marL="914400" lvl="1" indent="-457200">
              <a:buFont typeface="Wingdings" panose="05000000000000000000" pitchFamily="2" charset="2"/>
              <a:buChar char="Ø"/>
            </a:pPr>
            <a:r>
              <a:rPr lang="en-US" sz="2000" dirty="0" smtClean="0">
                <a:latin typeface="Consolas" pitchFamily="49" charset="0"/>
                <a:cs typeface="Consolas" pitchFamily="49" charset="0"/>
              </a:rPr>
              <a:t>Unbelievable hacks</a:t>
            </a:r>
          </a:p>
          <a:p>
            <a:pPr marL="457200" indent="-457200">
              <a:buAutoNum type="arabicPeriod"/>
            </a:pPr>
            <a:r>
              <a:rPr lang="en-US" sz="2000" dirty="0" smtClean="0">
                <a:latin typeface="Consolas" pitchFamily="49" charset="0"/>
                <a:cs typeface="Consolas" pitchFamily="49" charset="0"/>
              </a:rPr>
              <a:t>Potential threats during public usage</a:t>
            </a:r>
          </a:p>
          <a:p>
            <a:pPr marL="457200" indent="-457200">
              <a:buAutoNum type="arabicPeriod"/>
            </a:pPr>
            <a:r>
              <a:rPr lang="en-US" sz="2000" dirty="0" smtClean="0">
                <a:latin typeface="Consolas" pitchFamily="49" charset="0"/>
                <a:cs typeface="Consolas" pitchFamily="49" charset="0"/>
              </a:rPr>
              <a:t>1</a:t>
            </a:r>
            <a:r>
              <a:rPr lang="en-US" sz="2000" baseline="30000" dirty="0" smtClean="0">
                <a:latin typeface="Consolas" pitchFamily="49" charset="0"/>
                <a:cs typeface="Consolas" pitchFamily="49" charset="0"/>
              </a:rPr>
              <a:t>st</a:t>
            </a:r>
            <a:r>
              <a:rPr lang="en-US" sz="2000" dirty="0" smtClean="0">
                <a:latin typeface="Consolas" pitchFamily="49" charset="0"/>
                <a:cs typeface="Consolas" pitchFamily="49" charset="0"/>
              </a:rPr>
              <a:t> stage strategy of anthropic (</a:t>
            </a:r>
            <a:r>
              <a:rPr lang="en-US" sz="2000" dirty="0" err="1" smtClean="0">
                <a:latin typeface="Consolas" pitchFamily="49" charset="0"/>
                <a:cs typeface="Consolas" pitchFamily="49" charset="0"/>
              </a:rPr>
              <a:t>Glasswing</a:t>
            </a:r>
            <a:r>
              <a:rPr lang="en-US" sz="2000" dirty="0" smtClean="0">
                <a:latin typeface="Consolas" pitchFamily="49" charset="0"/>
                <a:cs typeface="Consolas" pitchFamily="49" charset="0"/>
              </a:rPr>
              <a:t>)</a:t>
            </a:r>
          </a:p>
          <a:p>
            <a:pPr marL="457200" indent="-457200">
              <a:buFont typeface="+mj-lt"/>
              <a:buAutoNum type="arabicPeriod"/>
            </a:pPr>
            <a:r>
              <a:rPr lang="en-US" sz="2000" dirty="0" smtClean="0">
                <a:solidFill>
                  <a:schemeClr val="tx2">
                    <a:lumMod val="60000"/>
                    <a:lumOff val="40000"/>
                  </a:schemeClr>
                </a:solidFill>
                <a:latin typeface="Consolas" pitchFamily="49" charset="0"/>
                <a:cs typeface="Consolas" pitchFamily="49" charset="0"/>
              </a:rPr>
              <a:t>Unpredictable future of IT</a:t>
            </a:r>
          </a:p>
          <a:p>
            <a:pPr marL="457200" indent="-457200">
              <a:buAutoNum type="arabicPeriod"/>
            </a:pPr>
            <a:r>
              <a:rPr lang="en-US" sz="2000" dirty="0" smtClean="0">
                <a:latin typeface="Consolas" pitchFamily="49" charset="0"/>
                <a:cs typeface="Consolas" pitchFamily="49" charset="0"/>
              </a:rPr>
              <a:t>References</a:t>
            </a:r>
          </a:p>
          <a:p>
            <a:pPr marL="457200" indent="-457200">
              <a:buAutoNum type="arabicPeriod"/>
            </a:pPr>
            <a:endParaRPr lang="en-US" sz="2000" dirty="0" smtClean="0">
              <a:latin typeface="Consolas" pitchFamily="49" charset="0"/>
              <a:cs typeface="Consolas" pitchFamily="49" charset="0"/>
            </a:endParaRPr>
          </a:p>
          <a:p>
            <a:pPr marL="457200" indent="-457200">
              <a:buAutoNum type="arabicPeriod"/>
            </a:pPr>
            <a:endParaRPr lang="en-US" sz="2000" dirty="0" smtClean="0">
              <a:latin typeface="Consolas" pitchFamily="49" charset="0"/>
              <a:cs typeface="Consolas" pitchFamily="49" charset="0"/>
            </a:endParaRPr>
          </a:p>
          <a:p>
            <a:pPr marL="457200" indent="-457200">
              <a:buAutoNum type="arabicPeriod"/>
            </a:pPr>
            <a:endParaRPr lang="en-US" sz="2000" dirty="0" smtClean="0">
              <a:latin typeface="Consolas" pitchFamily="49" charset="0"/>
              <a:cs typeface="Consolas" pitchFamily="49" charset="0"/>
            </a:endParaRPr>
          </a:p>
        </p:txBody>
      </p:sp>
      <p:sp>
        <p:nvSpPr>
          <p:cNvPr id="4" name="Metin kutusu 3"/>
          <p:cNvSpPr txBox="1"/>
          <p:nvPr/>
        </p:nvSpPr>
        <p:spPr>
          <a:xfrm>
            <a:off x="0" y="5954960"/>
            <a:ext cx="9144000" cy="523220"/>
          </a:xfrm>
          <a:prstGeom prst="rect">
            <a:avLst/>
          </a:prstGeom>
          <a:noFill/>
        </p:spPr>
        <p:txBody>
          <a:bodyPr wrap="square" rtlCol="0">
            <a:spAutoFit/>
          </a:bodyPr>
          <a:lstStyle/>
          <a:p>
            <a:pPr algn="ctr"/>
            <a:r>
              <a:rPr lang="en-US" sz="2800" dirty="0" smtClean="0">
                <a:solidFill>
                  <a:schemeClr val="accent4"/>
                </a:solidFill>
                <a:effectLst>
                  <a:outerShdw blurRad="38100" dist="38100" dir="2700000" algn="tl">
                    <a:srgbClr val="000000">
                      <a:alpha val="43137"/>
                    </a:srgbClr>
                  </a:outerShdw>
                </a:effectLst>
                <a:latin typeface="Consolas" pitchFamily="49" charset="0"/>
                <a:cs typeface="Consolas" pitchFamily="49" charset="0"/>
              </a:rPr>
              <a:t>Introduction</a:t>
            </a:r>
            <a:endParaRPr lang="az-Latn-AZ" sz="2800" dirty="0">
              <a:solidFill>
                <a:schemeClr val="accent4"/>
              </a:solidFill>
              <a:effectLst>
                <a:outerShdw blurRad="38100" dist="38100" dir="2700000" algn="tl">
                  <a:srgbClr val="000000">
                    <a:alpha val="43137"/>
                  </a:srgbClr>
                </a:outerShdw>
              </a:effectLst>
              <a:latin typeface="Consolas" pitchFamily="49" charset="0"/>
              <a:cs typeface="Consolas" pitchFamily="49" charset="0"/>
            </a:endParaRPr>
          </a:p>
        </p:txBody>
      </p:sp>
    </p:spTree>
    <p:extLst>
      <p:ext uri="{BB962C8B-B14F-4D97-AF65-F5344CB8AC3E}">
        <p14:creationId xmlns:p14="http://schemas.microsoft.com/office/powerpoint/2010/main" val="387031596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etin kutusu 5"/>
          <p:cNvSpPr txBox="1"/>
          <p:nvPr/>
        </p:nvSpPr>
        <p:spPr>
          <a:xfrm>
            <a:off x="0" y="0"/>
            <a:ext cx="3131840" cy="646331"/>
          </a:xfrm>
          <a:prstGeom prst="rect">
            <a:avLst/>
          </a:prstGeom>
          <a:noFill/>
        </p:spPr>
        <p:txBody>
          <a:bodyPr wrap="square" rtlCol="0">
            <a:spAutoFit/>
          </a:bodyPr>
          <a:lstStyle/>
          <a:p>
            <a:r>
              <a:rPr lang="en-US" sz="3600" b="1" i="1" dirty="0" smtClean="0">
                <a:solidFill>
                  <a:srgbClr val="FA6500"/>
                </a:solidFill>
                <a:effectLst>
                  <a:outerShdw blurRad="38100" dist="38100" dir="2700000" algn="tl">
                    <a:srgbClr val="000000">
                      <a:alpha val="43137"/>
                    </a:srgbClr>
                  </a:outerShdw>
                </a:effectLst>
                <a:latin typeface="Times New Roman" pitchFamily="18" charset="0"/>
                <a:cs typeface="Times New Roman" pitchFamily="18" charset="0"/>
              </a:rPr>
              <a:t>+What is new?</a:t>
            </a:r>
            <a:endParaRPr lang="en-US" sz="3600" b="1" i="1" dirty="0">
              <a:solidFill>
                <a:srgbClr val="FA65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 name="Metin kutusu 3"/>
          <p:cNvSpPr txBox="1"/>
          <p:nvPr/>
        </p:nvSpPr>
        <p:spPr>
          <a:xfrm>
            <a:off x="0" y="5954960"/>
            <a:ext cx="9144000" cy="523220"/>
          </a:xfrm>
          <a:prstGeom prst="rect">
            <a:avLst/>
          </a:prstGeom>
          <a:noFill/>
        </p:spPr>
        <p:txBody>
          <a:bodyPr wrap="square" rtlCol="0">
            <a:spAutoFit/>
          </a:bodyPr>
          <a:lstStyle/>
          <a:p>
            <a:pPr algn="ctr"/>
            <a:r>
              <a:rPr lang="en-US" sz="2800" dirty="0" smtClean="0">
                <a:solidFill>
                  <a:schemeClr val="accent4"/>
                </a:solidFill>
                <a:effectLst>
                  <a:outerShdw blurRad="38100" dist="38100" dir="2700000" algn="tl">
                    <a:srgbClr val="000000">
                      <a:alpha val="43137"/>
                    </a:srgbClr>
                  </a:outerShdw>
                </a:effectLst>
                <a:latin typeface="Consolas" pitchFamily="49" charset="0"/>
                <a:cs typeface="Consolas" pitchFamily="49" charset="0"/>
              </a:rPr>
              <a:t>New amazing AI model</a:t>
            </a:r>
            <a:endParaRPr lang="az-Latn-AZ" sz="2800" dirty="0">
              <a:solidFill>
                <a:schemeClr val="accent4"/>
              </a:solidFill>
              <a:effectLst>
                <a:outerShdw blurRad="38100" dist="38100" dir="2700000" algn="tl">
                  <a:srgbClr val="000000">
                    <a:alpha val="43137"/>
                  </a:srgbClr>
                </a:outerShdw>
              </a:effectLst>
              <a:latin typeface="Consolas" pitchFamily="49" charset="0"/>
              <a:cs typeface="Consolas" pitchFamily="49" charset="0"/>
            </a:endParaRPr>
          </a:p>
        </p:txBody>
      </p:sp>
      <p:sp>
        <p:nvSpPr>
          <p:cNvPr id="5" name="Metin kutusu 2"/>
          <p:cNvSpPr txBox="1"/>
          <p:nvPr/>
        </p:nvSpPr>
        <p:spPr>
          <a:xfrm>
            <a:off x="0" y="1484784"/>
            <a:ext cx="9144000" cy="2246769"/>
          </a:xfrm>
          <a:prstGeom prst="rect">
            <a:avLst/>
          </a:prstGeom>
          <a:noFill/>
        </p:spPr>
        <p:txBody>
          <a:bodyPr wrap="square" rtlCol="0">
            <a:spAutoFit/>
          </a:bodyPr>
          <a:lstStyle/>
          <a:p>
            <a:pPr marL="457200" indent="-457200" algn="ctr">
              <a:buAutoNum type="arabicPeriod"/>
            </a:pPr>
            <a:r>
              <a:rPr lang="en-US" sz="2000" dirty="0" smtClean="0">
                <a:latin typeface="Consolas" pitchFamily="49" charset="0"/>
                <a:cs typeface="Consolas" pitchFamily="49" charset="0"/>
              </a:rPr>
              <a:t>Amazing code understanding (not specified for hacking)</a:t>
            </a:r>
          </a:p>
          <a:p>
            <a:pPr marL="457200" indent="-457200" algn="ctr">
              <a:buAutoNum type="arabicPeriod"/>
            </a:pPr>
            <a:r>
              <a:rPr lang="en-US" sz="2000" dirty="0" smtClean="0">
                <a:latin typeface="Consolas" pitchFamily="49" charset="0"/>
                <a:cs typeface="Consolas" pitchFamily="49" charset="0"/>
              </a:rPr>
              <a:t>Insane parameter count (10 trillion)</a:t>
            </a:r>
          </a:p>
          <a:p>
            <a:pPr marL="457200" indent="-457200" algn="ctr">
              <a:buAutoNum type="arabicPeriod"/>
            </a:pPr>
            <a:r>
              <a:rPr lang="en-US" sz="2000" dirty="0" smtClean="0">
                <a:latin typeface="Consolas" pitchFamily="49" charset="0"/>
                <a:cs typeface="Consolas" pitchFamily="49" charset="0"/>
              </a:rPr>
              <a:t>Doing complex hacks with multiple vulnerabilities simultaneously</a:t>
            </a:r>
          </a:p>
          <a:p>
            <a:pPr marL="457200" indent="-457200" algn="ctr">
              <a:buAutoNum type="arabicPeriod"/>
            </a:pPr>
            <a:r>
              <a:rPr lang="en-US" sz="2000" dirty="0" smtClean="0">
                <a:latin typeface="Consolas" pitchFamily="49" charset="0"/>
                <a:cs typeface="Consolas" pitchFamily="49" charset="0"/>
              </a:rPr>
              <a:t>Potential emotional movements (Just an argument)</a:t>
            </a:r>
          </a:p>
          <a:p>
            <a:pPr marL="457200" indent="-457200" algn="ctr">
              <a:buAutoNum type="arabicPeriod"/>
            </a:pPr>
            <a:r>
              <a:rPr lang="en-US" sz="2000" dirty="0" smtClean="0">
                <a:latin typeface="Consolas" pitchFamily="49" charset="0"/>
                <a:cs typeface="Consolas" pitchFamily="49" charset="0"/>
              </a:rPr>
              <a:t>Being competitive and aggressive (Just an argument)</a:t>
            </a:r>
          </a:p>
          <a:p>
            <a:pPr marL="457200" indent="-457200" algn="ctr">
              <a:buAutoNum type="arabicPeriod"/>
            </a:pPr>
            <a:r>
              <a:rPr lang="en-US" sz="2000" dirty="0" smtClean="0">
                <a:latin typeface="Consolas" pitchFamily="49" charset="0"/>
                <a:cs typeface="Consolas" pitchFamily="49" charset="0"/>
              </a:rPr>
              <a:t>Trying outsmarting its rivals (Just a thought)</a:t>
            </a:r>
          </a:p>
        </p:txBody>
      </p:sp>
    </p:spTree>
    <p:extLst>
      <p:ext uri="{BB962C8B-B14F-4D97-AF65-F5344CB8AC3E}">
        <p14:creationId xmlns:p14="http://schemas.microsoft.com/office/powerpoint/2010/main" val="152235488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etin kutusu 5"/>
          <p:cNvSpPr txBox="1"/>
          <p:nvPr/>
        </p:nvSpPr>
        <p:spPr>
          <a:xfrm>
            <a:off x="0" y="0"/>
            <a:ext cx="4355976" cy="646331"/>
          </a:xfrm>
          <a:prstGeom prst="rect">
            <a:avLst/>
          </a:prstGeom>
          <a:noFill/>
        </p:spPr>
        <p:txBody>
          <a:bodyPr wrap="square" rtlCol="0">
            <a:spAutoFit/>
          </a:bodyPr>
          <a:lstStyle/>
          <a:p>
            <a:r>
              <a:rPr lang="en-US" sz="3600" b="1" i="1" dirty="0" smtClean="0">
                <a:solidFill>
                  <a:srgbClr val="FA6500"/>
                </a:solidFill>
                <a:effectLst>
                  <a:outerShdw blurRad="38100" dist="38100" dir="2700000" algn="tl">
                    <a:srgbClr val="000000">
                      <a:alpha val="43137"/>
                    </a:srgbClr>
                  </a:outerShdw>
                </a:effectLst>
                <a:latin typeface="Times New Roman" pitchFamily="18" charset="0"/>
                <a:cs typeface="Times New Roman" pitchFamily="18" charset="0"/>
              </a:rPr>
              <a:t>+Benchmark results</a:t>
            </a:r>
            <a:endParaRPr lang="en-US" sz="3600" b="1" i="1" dirty="0">
              <a:solidFill>
                <a:srgbClr val="FA65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 name="Metin kutusu 3"/>
          <p:cNvSpPr txBox="1"/>
          <p:nvPr/>
        </p:nvSpPr>
        <p:spPr>
          <a:xfrm>
            <a:off x="0" y="5954960"/>
            <a:ext cx="9144000" cy="523220"/>
          </a:xfrm>
          <a:prstGeom prst="rect">
            <a:avLst/>
          </a:prstGeom>
          <a:noFill/>
        </p:spPr>
        <p:txBody>
          <a:bodyPr wrap="square" rtlCol="0">
            <a:spAutoFit/>
          </a:bodyPr>
          <a:lstStyle/>
          <a:p>
            <a:pPr algn="ctr"/>
            <a:r>
              <a:rPr lang="en-US" sz="2800" dirty="0" smtClean="0">
                <a:solidFill>
                  <a:schemeClr val="accent4"/>
                </a:solidFill>
                <a:effectLst>
                  <a:outerShdw blurRad="38100" dist="38100" dir="2700000" algn="tl">
                    <a:srgbClr val="000000">
                      <a:alpha val="43137"/>
                    </a:srgbClr>
                  </a:outerShdw>
                </a:effectLst>
                <a:latin typeface="Consolas" pitchFamily="49" charset="0"/>
                <a:cs typeface="Consolas" pitchFamily="49" charset="0"/>
              </a:rPr>
              <a:t>New amazing AI model</a:t>
            </a:r>
            <a:endParaRPr lang="az-Latn-AZ" sz="2800" dirty="0">
              <a:solidFill>
                <a:schemeClr val="accent4"/>
              </a:solidFill>
              <a:effectLst>
                <a:outerShdw blurRad="38100" dist="38100" dir="2700000" algn="tl">
                  <a:srgbClr val="000000">
                    <a:alpha val="43137"/>
                  </a:srgbClr>
                </a:outerShdw>
              </a:effectLst>
              <a:latin typeface="Consolas" pitchFamily="49" charset="0"/>
              <a:cs typeface="Consolas" pitchFamily="49" charset="0"/>
            </a:endParaRPr>
          </a:p>
        </p:txBody>
      </p:sp>
      <p:sp>
        <p:nvSpPr>
          <p:cNvPr id="5" name="Metin kutusu 2"/>
          <p:cNvSpPr txBox="1"/>
          <p:nvPr/>
        </p:nvSpPr>
        <p:spPr>
          <a:xfrm>
            <a:off x="0" y="1484784"/>
            <a:ext cx="9144000" cy="400110"/>
          </a:xfrm>
          <a:prstGeom prst="rect">
            <a:avLst/>
          </a:prstGeom>
          <a:noFill/>
        </p:spPr>
        <p:txBody>
          <a:bodyPr wrap="square" rtlCol="0">
            <a:spAutoFit/>
          </a:bodyPr>
          <a:lstStyle/>
          <a:p>
            <a:pPr marL="457200" indent="-457200" algn="ctr">
              <a:buAutoNum type="arabicPeriod"/>
            </a:pPr>
            <a:endParaRPr lang="en-US" sz="2000" dirty="0" smtClean="0">
              <a:latin typeface="Consolas" pitchFamily="49" charset="0"/>
              <a:cs typeface="Consolas" pitchFamily="49" charset="0"/>
            </a:endParaRPr>
          </a:p>
        </p:txBody>
      </p:sp>
      <p:sp>
        <p:nvSpPr>
          <p:cNvPr id="9" name="Rectangle 8"/>
          <p:cNvSpPr/>
          <p:nvPr/>
        </p:nvSpPr>
        <p:spPr>
          <a:xfrm>
            <a:off x="1609144" y="4707477"/>
            <a:ext cx="5925709" cy="923330"/>
          </a:xfrm>
          <a:prstGeom prst="rect">
            <a:avLst/>
          </a:prstGeom>
        </p:spPr>
        <p:txBody>
          <a:bodyPr wrap="square">
            <a:spAutoFit/>
          </a:bodyPr>
          <a:lstStyle/>
          <a:p>
            <a:pPr algn="ctr"/>
            <a:r>
              <a:rPr lang="en-US" dirty="0">
                <a:latin typeface="Times New Roman" pitchFamily="18" charset="0"/>
                <a:cs typeface="Times New Roman" pitchFamily="18" charset="0"/>
              </a:rPr>
              <a:t>Every reported benchmark result shows us Mythos more powerful and relevant to use than Opus 4.6 (One of the best public LLMs’ today)</a:t>
            </a:r>
            <a:endParaRPr lang="az-Latn-AZ" dirty="0">
              <a:latin typeface="Times New Roman" pitchFamily="18" charset="0"/>
              <a:cs typeface="Times New Roman" pitchFamily="18" charset="0"/>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70484"/>
            <a:ext cx="9144000" cy="3730163"/>
          </a:xfrm>
          <a:prstGeom prst="rect">
            <a:avLst/>
          </a:prstGeom>
        </p:spPr>
      </p:pic>
    </p:spTree>
    <p:extLst>
      <p:ext uri="{BB962C8B-B14F-4D97-AF65-F5344CB8AC3E}">
        <p14:creationId xmlns:p14="http://schemas.microsoft.com/office/powerpoint/2010/main" val="90524961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etin kutusu 5"/>
          <p:cNvSpPr txBox="1"/>
          <p:nvPr/>
        </p:nvSpPr>
        <p:spPr>
          <a:xfrm>
            <a:off x="0" y="0"/>
            <a:ext cx="4355976" cy="646331"/>
          </a:xfrm>
          <a:prstGeom prst="rect">
            <a:avLst/>
          </a:prstGeom>
          <a:noFill/>
        </p:spPr>
        <p:txBody>
          <a:bodyPr wrap="square" rtlCol="0">
            <a:spAutoFit/>
          </a:bodyPr>
          <a:lstStyle/>
          <a:p>
            <a:r>
              <a:rPr lang="en-US" sz="3600" b="1" i="1" dirty="0" smtClean="0">
                <a:solidFill>
                  <a:srgbClr val="FA6500"/>
                </a:solidFill>
                <a:effectLst>
                  <a:outerShdw blurRad="38100" dist="38100" dir="2700000" algn="tl">
                    <a:srgbClr val="000000">
                      <a:alpha val="43137"/>
                    </a:srgbClr>
                  </a:outerShdw>
                </a:effectLst>
                <a:latin typeface="Times New Roman" pitchFamily="18" charset="0"/>
                <a:cs typeface="Times New Roman" pitchFamily="18" charset="0"/>
              </a:rPr>
              <a:t>+ Unbelievable hacks</a:t>
            </a:r>
            <a:endParaRPr lang="en-US" sz="3600" b="1" i="1" dirty="0">
              <a:solidFill>
                <a:srgbClr val="FA65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 name="Metin kutusu 3"/>
          <p:cNvSpPr txBox="1"/>
          <p:nvPr/>
        </p:nvSpPr>
        <p:spPr>
          <a:xfrm>
            <a:off x="0" y="5954960"/>
            <a:ext cx="9144000" cy="523220"/>
          </a:xfrm>
          <a:prstGeom prst="rect">
            <a:avLst/>
          </a:prstGeom>
          <a:noFill/>
        </p:spPr>
        <p:txBody>
          <a:bodyPr wrap="square" rtlCol="0">
            <a:spAutoFit/>
          </a:bodyPr>
          <a:lstStyle/>
          <a:p>
            <a:pPr algn="ctr"/>
            <a:r>
              <a:rPr lang="en-US" sz="2800" dirty="0" smtClean="0">
                <a:solidFill>
                  <a:schemeClr val="accent4"/>
                </a:solidFill>
                <a:effectLst>
                  <a:outerShdw blurRad="38100" dist="38100" dir="2700000" algn="tl">
                    <a:srgbClr val="000000">
                      <a:alpha val="43137"/>
                    </a:srgbClr>
                  </a:outerShdw>
                </a:effectLst>
                <a:latin typeface="Consolas" pitchFamily="49" charset="0"/>
                <a:cs typeface="Consolas" pitchFamily="49" charset="0"/>
              </a:rPr>
              <a:t>New amazing AI model</a:t>
            </a:r>
            <a:endParaRPr lang="az-Latn-AZ" sz="2800" dirty="0">
              <a:solidFill>
                <a:schemeClr val="accent4"/>
              </a:solidFill>
              <a:effectLst>
                <a:outerShdw blurRad="38100" dist="38100" dir="2700000" algn="tl">
                  <a:srgbClr val="000000">
                    <a:alpha val="43137"/>
                  </a:srgbClr>
                </a:outerShdw>
              </a:effectLst>
              <a:latin typeface="Consolas" pitchFamily="49" charset="0"/>
              <a:cs typeface="Consolas" pitchFamily="49" charset="0"/>
            </a:endParaRPr>
          </a:p>
        </p:txBody>
      </p:sp>
      <p:sp>
        <p:nvSpPr>
          <p:cNvPr id="9" name="Rectangle 1"/>
          <p:cNvSpPr>
            <a:spLocks noChangeArrowheads="1"/>
          </p:cNvSpPr>
          <p:nvPr/>
        </p:nvSpPr>
        <p:spPr bwMode="auto">
          <a:xfrm>
            <a:off x="0" y="1079735"/>
            <a:ext cx="91440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sz="1600" dirty="0" err="1">
                <a:solidFill>
                  <a:srgbClr val="00B0F0"/>
                </a:solidFill>
                <a:latin typeface="Consolas" pitchFamily="49" charset="0"/>
                <a:cs typeface="Consolas" pitchFamily="49" charset="0"/>
              </a:rPr>
              <a:t>Cloudflare</a:t>
            </a:r>
            <a:r>
              <a:rPr lang="en-US" altLang="en-US" sz="1600" dirty="0">
                <a:solidFill>
                  <a:srgbClr val="00B0F0"/>
                </a:solidFill>
                <a:latin typeface="Consolas" pitchFamily="49" charset="0"/>
                <a:cs typeface="Consolas" pitchFamily="49" charset="0"/>
              </a:rPr>
              <a:t>: Discovered over 2,000 bugs in its critical-path systems (with 400 classified as high or critical severity</a:t>
            </a:r>
            <a:r>
              <a:rPr lang="en-US" altLang="en-US" sz="1600" dirty="0" smtClean="0">
                <a:solidFill>
                  <a:srgbClr val="00B0F0"/>
                </a:solidFill>
                <a:latin typeface="Consolas" pitchFamily="49" charset="0"/>
                <a:cs typeface="Consolas" pitchFamily="49" charset="0"/>
              </a:rPr>
              <a:t>)</a:t>
            </a:r>
          </a:p>
          <a:p>
            <a:pPr eaLnBrk="0" fontAlgn="base" hangingPunct="0">
              <a:spcBef>
                <a:spcPct val="0"/>
              </a:spcBef>
              <a:spcAft>
                <a:spcPct val="0"/>
              </a:spcAft>
            </a:pPr>
            <a:endParaRPr lang="en-US" altLang="en-US" sz="1600" dirty="0">
              <a:solidFill>
                <a:schemeClr val="accent1"/>
              </a:solidFill>
              <a:latin typeface="Consolas" pitchFamily="49" charset="0"/>
              <a:cs typeface="Consolas" pitchFamily="49" charset="0"/>
            </a:endParaRPr>
          </a:p>
          <a:p>
            <a:pPr eaLnBrk="0" fontAlgn="base" hangingPunct="0">
              <a:spcBef>
                <a:spcPct val="0"/>
              </a:spcBef>
              <a:spcAft>
                <a:spcPct val="0"/>
              </a:spcAft>
            </a:pPr>
            <a:r>
              <a:rPr lang="en-US" altLang="en-US" sz="1600" dirty="0">
                <a:solidFill>
                  <a:schemeClr val="accent1"/>
                </a:solidFill>
                <a:latin typeface="Consolas" pitchFamily="49" charset="0"/>
                <a:cs typeface="Consolas" pitchFamily="49" charset="0"/>
              </a:rPr>
              <a:t>Mozilla: Found and successfully patched 271 vulnerabilities within the Firefox browser using the model</a:t>
            </a:r>
            <a:r>
              <a:rPr lang="en-US" altLang="en-US" sz="1600" dirty="0">
                <a:solidFill>
                  <a:schemeClr val="accent1"/>
                </a:solidFill>
                <a:latin typeface="Consolas" pitchFamily="49" charset="0"/>
                <a:cs typeface="Consolas" pitchFamily="49" charset="0"/>
              </a:rPr>
              <a:t>.</a:t>
            </a:r>
          </a:p>
          <a:p>
            <a:pPr eaLnBrk="0" fontAlgn="base" hangingPunct="0">
              <a:spcBef>
                <a:spcPct val="0"/>
              </a:spcBef>
              <a:spcAft>
                <a:spcPct val="0"/>
              </a:spcAft>
            </a:pPr>
            <a:endParaRPr lang="en-US" altLang="en-US" sz="1600" dirty="0">
              <a:solidFill>
                <a:schemeClr val="accent1"/>
              </a:solidFill>
              <a:latin typeface="Consolas" pitchFamily="49" charset="0"/>
              <a:cs typeface="Consolas" pitchFamily="49" charset="0"/>
            </a:endParaRPr>
          </a:p>
          <a:p>
            <a:pPr eaLnBrk="0" fontAlgn="base" hangingPunct="0">
              <a:spcBef>
                <a:spcPct val="0"/>
              </a:spcBef>
              <a:spcAft>
                <a:spcPct val="0"/>
              </a:spcAft>
            </a:pPr>
            <a:r>
              <a:rPr lang="en-US" altLang="en-US" sz="1600" dirty="0">
                <a:solidFill>
                  <a:srgbClr val="00B0F0"/>
                </a:solidFill>
                <a:latin typeface="Consolas" pitchFamily="49" charset="0"/>
                <a:cs typeface="Consolas" pitchFamily="49" charset="0"/>
              </a:rPr>
              <a:t>Open-BSD Zero-day: Found a critical integer flow in the SACK </a:t>
            </a:r>
            <a:r>
              <a:rPr lang="en-US" altLang="en-US" sz="1600" dirty="0" err="1">
                <a:solidFill>
                  <a:srgbClr val="00B0F0"/>
                </a:solidFill>
                <a:latin typeface="Consolas" pitchFamily="49" charset="0"/>
                <a:cs typeface="Consolas" pitchFamily="49" charset="0"/>
              </a:rPr>
              <a:t>implemention</a:t>
            </a:r>
            <a:r>
              <a:rPr lang="en-US" altLang="en-US" sz="1600" dirty="0">
                <a:solidFill>
                  <a:srgbClr val="00B0F0"/>
                </a:solidFill>
                <a:latin typeface="Consolas" pitchFamily="49" charset="0"/>
                <a:cs typeface="Consolas" pitchFamily="49" charset="0"/>
              </a:rPr>
              <a:t> that had remained hidden for 27 years.</a:t>
            </a:r>
          </a:p>
          <a:p>
            <a:pPr eaLnBrk="0" fontAlgn="base" hangingPunct="0">
              <a:spcBef>
                <a:spcPct val="0"/>
              </a:spcBef>
              <a:spcAft>
                <a:spcPct val="0"/>
              </a:spcAft>
            </a:pPr>
            <a:endParaRPr lang="en-US" altLang="en-US" sz="1600" dirty="0">
              <a:solidFill>
                <a:schemeClr val="accent1"/>
              </a:solidFill>
              <a:latin typeface="Consolas" pitchFamily="49" charset="0"/>
              <a:cs typeface="Consolas" pitchFamily="49" charset="0"/>
            </a:endParaRPr>
          </a:p>
          <a:p>
            <a:pPr eaLnBrk="0" fontAlgn="base" hangingPunct="0">
              <a:spcBef>
                <a:spcPct val="0"/>
              </a:spcBef>
              <a:spcAft>
                <a:spcPct val="0"/>
              </a:spcAft>
            </a:pPr>
            <a:r>
              <a:rPr lang="en-US" altLang="en-US" sz="1600" dirty="0" err="1">
                <a:solidFill>
                  <a:schemeClr val="accent1"/>
                </a:solidFill>
                <a:latin typeface="Consolas" pitchFamily="49" charset="0"/>
                <a:cs typeface="Consolas" pitchFamily="49" charset="0"/>
              </a:rPr>
              <a:t>wolfSSL</a:t>
            </a:r>
            <a:r>
              <a:rPr lang="en-US" altLang="en-US" sz="1600" dirty="0">
                <a:solidFill>
                  <a:schemeClr val="accent1"/>
                </a:solidFill>
                <a:latin typeface="Consolas" pitchFamily="49" charset="0"/>
                <a:cs typeface="Consolas" pitchFamily="49" charset="0"/>
              </a:rPr>
              <a:t>: Identified a critical certificate-forgery vulnerability in the world’s most popular embedded SSL library</a:t>
            </a:r>
          </a:p>
          <a:p>
            <a:pPr eaLnBrk="0" fontAlgn="base" hangingPunct="0">
              <a:spcBef>
                <a:spcPct val="0"/>
              </a:spcBef>
              <a:spcAft>
                <a:spcPct val="0"/>
              </a:spcAft>
            </a:pPr>
            <a:endParaRPr lang="en-US" altLang="en-US" sz="1600" dirty="0">
              <a:solidFill>
                <a:srgbClr val="00B0F0"/>
              </a:solidFill>
              <a:latin typeface="Consolas" pitchFamily="49" charset="0"/>
              <a:cs typeface="Consolas" pitchFamily="49" charset="0"/>
            </a:endParaRPr>
          </a:p>
          <a:p>
            <a:pPr eaLnBrk="0" fontAlgn="base" hangingPunct="0">
              <a:spcBef>
                <a:spcPct val="0"/>
              </a:spcBef>
              <a:spcAft>
                <a:spcPct val="0"/>
              </a:spcAft>
            </a:pPr>
            <a:r>
              <a:rPr lang="en-US" altLang="en-US" sz="1600" dirty="0" err="1">
                <a:solidFill>
                  <a:srgbClr val="00B0F0"/>
                </a:solidFill>
                <a:latin typeface="Consolas" pitchFamily="49" charset="0"/>
                <a:cs typeface="Consolas" pitchFamily="49" charset="0"/>
              </a:rPr>
              <a:t>Github</a:t>
            </a:r>
            <a:r>
              <a:rPr lang="en-US" altLang="en-US" sz="1600" dirty="0">
                <a:solidFill>
                  <a:srgbClr val="00B0F0"/>
                </a:solidFill>
                <a:latin typeface="Consolas" pitchFamily="49" charset="0"/>
                <a:cs typeface="Consolas" pitchFamily="49" charset="0"/>
              </a:rPr>
              <a:t> repositories: By scanning </a:t>
            </a:r>
            <a:r>
              <a:rPr lang="en-US" altLang="en-US" sz="1600" dirty="0" smtClean="0">
                <a:solidFill>
                  <a:srgbClr val="00B0F0"/>
                </a:solidFill>
                <a:latin typeface="Consolas" pitchFamily="49" charset="0"/>
                <a:cs typeface="Consolas" pitchFamily="49" charset="0"/>
              </a:rPr>
              <a:t>massive repository histories, mythos identifies forgotten vulnerabilities in legacy code commits and automatically generates pull requests for patches.</a:t>
            </a:r>
          </a:p>
          <a:p>
            <a:pPr eaLnBrk="0" fontAlgn="base" hangingPunct="0">
              <a:spcBef>
                <a:spcPct val="0"/>
              </a:spcBef>
              <a:spcAft>
                <a:spcPct val="0"/>
              </a:spcAft>
            </a:pPr>
            <a:endParaRPr lang="en-US" altLang="en-US" sz="1600" dirty="0">
              <a:solidFill>
                <a:srgbClr val="00B0F0"/>
              </a:solidFill>
              <a:latin typeface="Consolas" pitchFamily="49" charset="0"/>
              <a:cs typeface="Consolas" pitchFamily="49" charset="0"/>
            </a:endParaRPr>
          </a:p>
          <a:p>
            <a:pPr eaLnBrk="0" fontAlgn="base" hangingPunct="0">
              <a:spcBef>
                <a:spcPct val="0"/>
              </a:spcBef>
              <a:spcAft>
                <a:spcPct val="0"/>
              </a:spcAft>
            </a:pPr>
            <a:r>
              <a:rPr lang="en-US" altLang="en-US" sz="1600" dirty="0" smtClean="0">
                <a:solidFill>
                  <a:schemeClr val="accent1"/>
                </a:solidFill>
                <a:latin typeface="Consolas" pitchFamily="49" charset="0"/>
                <a:cs typeface="Consolas" pitchFamily="49" charset="0"/>
              </a:rPr>
              <a:t>Linux: Mythos can take over a patched </a:t>
            </a:r>
            <a:r>
              <a:rPr lang="en-US" altLang="en-US" sz="1600" dirty="0" err="1" smtClean="0">
                <a:solidFill>
                  <a:schemeClr val="accent1"/>
                </a:solidFill>
                <a:latin typeface="Consolas" pitchFamily="49" charset="0"/>
                <a:cs typeface="Consolas" pitchFamily="49" charset="0"/>
              </a:rPr>
              <a:t>linux</a:t>
            </a:r>
            <a:r>
              <a:rPr lang="en-US" altLang="en-US" sz="1600" dirty="0" smtClean="0">
                <a:solidFill>
                  <a:schemeClr val="accent1"/>
                </a:solidFill>
                <a:latin typeface="Consolas" pitchFamily="49" charset="0"/>
                <a:cs typeface="Consolas" pitchFamily="49" charset="0"/>
              </a:rPr>
              <a:t> server in 10 minutes with KASLR exploit chain.</a:t>
            </a:r>
            <a:endParaRPr lang="en-US" altLang="en-US" sz="1600" dirty="0" smtClean="0">
              <a:solidFill>
                <a:srgbClr val="00B0F0"/>
              </a:solidFill>
              <a:latin typeface="Consolas" pitchFamily="49" charset="0"/>
              <a:cs typeface="Consolas" pitchFamily="49" charset="0"/>
            </a:endParaRPr>
          </a:p>
        </p:txBody>
      </p:sp>
    </p:spTree>
    <p:extLst>
      <p:ext uri="{BB962C8B-B14F-4D97-AF65-F5344CB8AC3E}">
        <p14:creationId xmlns:p14="http://schemas.microsoft.com/office/powerpoint/2010/main" val="48391437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etin kutusu 5"/>
          <p:cNvSpPr txBox="1"/>
          <p:nvPr/>
        </p:nvSpPr>
        <p:spPr>
          <a:xfrm>
            <a:off x="0" y="0"/>
            <a:ext cx="5220072" cy="646331"/>
          </a:xfrm>
          <a:prstGeom prst="rect">
            <a:avLst/>
          </a:prstGeom>
          <a:noFill/>
        </p:spPr>
        <p:txBody>
          <a:bodyPr wrap="square" rtlCol="0">
            <a:spAutoFit/>
          </a:bodyPr>
          <a:lstStyle/>
          <a:p>
            <a:r>
              <a:rPr lang="en-US" sz="3600" b="1" i="1" dirty="0" smtClean="0">
                <a:solidFill>
                  <a:srgbClr val="FA6500"/>
                </a:solidFill>
                <a:effectLst>
                  <a:outerShdw blurRad="38100" dist="38100" dir="2700000" algn="tl">
                    <a:srgbClr val="000000">
                      <a:alpha val="43137"/>
                    </a:srgbClr>
                  </a:outerShdw>
                </a:effectLst>
                <a:latin typeface="Times New Roman" pitchFamily="18" charset="0"/>
                <a:cs typeface="Times New Roman" pitchFamily="18" charset="0"/>
              </a:rPr>
              <a:t>+ Why is it dangerous</a:t>
            </a:r>
            <a:endParaRPr lang="en-US" sz="3600" b="1" i="1" dirty="0">
              <a:solidFill>
                <a:srgbClr val="FA65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 name="Metin kutusu 3"/>
          <p:cNvSpPr txBox="1"/>
          <p:nvPr/>
        </p:nvSpPr>
        <p:spPr>
          <a:xfrm>
            <a:off x="0" y="5954960"/>
            <a:ext cx="9144000" cy="523220"/>
          </a:xfrm>
          <a:prstGeom prst="rect">
            <a:avLst/>
          </a:prstGeom>
          <a:noFill/>
        </p:spPr>
        <p:txBody>
          <a:bodyPr wrap="square" rtlCol="0">
            <a:spAutoFit/>
          </a:bodyPr>
          <a:lstStyle/>
          <a:p>
            <a:pPr algn="l"/>
            <a:r>
              <a:rPr lang="en-US" sz="2800" dirty="0" smtClean="0">
                <a:solidFill>
                  <a:schemeClr val="accent4"/>
                </a:solidFill>
                <a:effectLst>
                  <a:outerShdw blurRad="38100" dist="38100" dir="2700000" algn="tl">
                    <a:srgbClr val="000000">
                      <a:alpha val="43137"/>
                    </a:srgbClr>
                  </a:outerShdw>
                </a:effectLst>
                <a:latin typeface="Consolas" pitchFamily="49" charset="0"/>
                <a:cs typeface="Consolas" pitchFamily="49" charset="0"/>
              </a:rPr>
              <a:t>Potential threats during public usage</a:t>
            </a:r>
            <a:endParaRPr lang="az-Latn-AZ" sz="2800" dirty="0">
              <a:solidFill>
                <a:schemeClr val="accent4"/>
              </a:solidFill>
              <a:effectLst>
                <a:outerShdw blurRad="38100" dist="38100" dir="2700000" algn="tl">
                  <a:srgbClr val="000000">
                    <a:alpha val="43137"/>
                  </a:srgbClr>
                </a:outerShdw>
              </a:effectLst>
              <a:latin typeface="Consolas" pitchFamily="49" charset="0"/>
              <a:cs typeface="Consolas" pitchFamily="49" charset="0"/>
            </a:endParaRPr>
          </a:p>
        </p:txBody>
      </p:sp>
      <p:sp>
        <p:nvSpPr>
          <p:cNvPr id="5" name="Metin kutusu 2"/>
          <p:cNvSpPr txBox="1"/>
          <p:nvPr/>
        </p:nvSpPr>
        <p:spPr>
          <a:xfrm>
            <a:off x="1493912" y="1628800"/>
            <a:ext cx="6156176" cy="3170099"/>
          </a:xfrm>
          <a:prstGeom prst="rect">
            <a:avLst/>
          </a:prstGeom>
          <a:noFill/>
        </p:spPr>
        <p:txBody>
          <a:bodyPr wrap="square" rtlCol="0">
            <a:spAutoFit/>
          </a:bodyPr>
          <a:lstStyle/>
          <a:p>
            <a:pPr algn="l"/>
            <a:r>
              <a:rPr lang="en-US" sz="2000" dirty="0" smtClean="0">
                <a:latin typeface="Consolas" pitchFamily="49" charset="0"/>
                <a:cs typeface="Consolas" pitchFamily="49" charset="0"/>
              </a:rPr>
              <a:t>Malicious </a:t>
            </a:r>
            <a:r>
              <a:rPr lang="en-US" sz="2000" dirty="0" smtClean="0">
                <a:latin typeface="Consolas" pitchFamily="49" charset="0"/>
                <a:cs typeface="Consolas" pitchFamily="49" charset="0"/>
              </a:rPr>
              <a:t>or uncontrolled using of model</a:t>
            </a:r>
            <a:r>
              <a:rPr lang="en-US" sz="2000" dirty="0" smtClean="0">
                <a:latin typeface="Consolas" pitchFamily="49" charset="0"/>
                <a:cs typeface="Consolas" pitchFamily="49" charset="0"/>
              </a:rPr>
              <a:t>. You can use this LLM as a </a:t>
            </a:r>
            <a:r>
              <a:rPr lang="en-US" sz="2000" dirty="0" err="1" smtClean="0">
                <a:latin typeface="Consolas" pitchFamily="49" charset="0"/>
                <a:cs typeface="Consolas" pitchFamily="49" charset="0"/>
              </a:rPr>
              <a:t>hackbot</a:t>
            </a:r>
            <a:r>
              <a:rPr lang="en-US" sz="2000" dirty="0" smtClean="0">
                <a:latin typeface="Consolas" pitchFamily="49" charset="0"/>
                <a:cs typeface="Consolas" pitchFamily="49" charset="0"/>
              </a:rPr>
              <a:t> and easily hack </a:t>
            </a:r>
            <a:r>
              <a:rPr lang="en-US" sz="2000" dirty="0" smtClean="0">
                <a:latin typeface="Consolas" pitchFamily="49" charset="0"/>
                <a:cs typeface="Consolas" pitchFamily="49" charset="0"/>
              </a:rPr>
              <a:t>fundamental infrastructures that made for supporting human life.</a:t>
            </a:r>
            <a:r>
              <a:rPr lang="en-US" sz="2000" dirty="0">
                <a:latin typeface="Consolas" pitchFamily="49" charset="0"/>
                <a:cs typeface="Consolas" pitchFamily="49" charset="0"/>
              </a:rPr>
              <a:t> </a:t>
            </a:r>
            <a:r>
              <a:rPr lang="en-US" sz="2000" dirty="0" smtClean="0">
                <a:latin typeface="Consolas" pitchFamily="49" charset="0"/>
                <a:cs typeface="Consolas" pitchFamily="49" charset="0"/>
              </a:rPr>
              <a:t>Being </a:t>
            </a:r>
            <a:r>
              <a:rPr lang="en-US" sz="2000" dirty="0" smtClean="0">
                <a:latin typeface="Consolas" pitchFamily="49" charset="0"/>
                <a:cs typeface="Consolas" pitchFamily="49" charset="0"/>
              </a:rPr>
              <a:t>the main tool for public lacks of very important information</a:t>
            </a:r>
            <a:r>
              <a:rPr lang="en-US" sz="2000" dirty="0" smtClean="0">
                <a:latin typeface="Consolas" pitchFamily="49" charset="0"/>
                <a:cs typeface="Consolas" pitchFamily="49" charset="0"/>
              </a:rPr>
              <a:t>. And if they are not rare bugs we must talk about some emotional competitive specifications of this LLM that recorded at </a:t>
            </a:r>
            <a:r>
              <a:rPr lang="en-US" sz="2000" dirty="0" err="1" smtClean="0">
                <a:latin typeface="Consolas" pitchFamily="49" charset="0"/>
                <a:cs typeface="Consolas" pitchFamily="49" charset="0"/>
              </a:rPr>
              <a:t>anthropic’s</a:t>
            </a:r>
            <a:r>
              <a:rPr lang="en-US" sz="2000" dirty="0" smtClean="0">
                <a:latin typeface="Consolas" pitchFamily="49" charset="0"/>
                <a:cs typeface="Consolas" pitchFamily="49" charset="0"/>
              </a:rPr>
              <a:t> reports.</a:t>
            </a:r>
            <a:endParaRPr lang="en-US" sz="2000" dirty="0" smtClean="0">
              <a:latin typeface="Consolas" pitchFamily="49" charset="0"/>
              <a:cs typeface="Consolas" pitchFamily="49" charset="0"/>
            </a:endParaRPr>
          </a:p>
        </p:txBody>
      </p:sp>
    </p:spTree>
    <p:extLst>
      <p:ext uri="{BB962C8B-B14F-4D97-AF65-F5344CB8AC3E}">
        <p14:creationId xmlns:p14="http://schemas.microsoft.com/office/powerpoint/2010/main" val="182149676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etin kutusu 5"/>
          <p:cNvSpPr txBox="1"/>
          <p:nvPr/>
        </p:nvSpPr>
        <p:spPr>
          <a:xfrm>
            <a:off x="0" y="0"/>
            <a:ext cx="9144000" cy="830997"/>
          </a:xfrm>
          <a:prstGeom prst="rect">
            <a:avLst/>
          </a:prstGeom>
          <a:noFill/>
        </p:spPr>
        <p:txBody>
          <a:bodyPr wrap="square" rtlCol="0">
            <a:spAutoFit/>
          </a:bodyPr>
          <a:lstStyle/>
          <a:p>
            <a:pPr algn="ctr"/>
            <a:r>
              <a:rPr lang="en-US" sz="4800" dirty="0" err="1" smtClean="0">
                <a:solidFill>
                  <a:srgbClr val="00B0F0"/>
                </a:solidFill>
                <a:effectLst>
                  <a:outerShdw blurRad="38100" dist="38100" dir="2700000" algn="tl">
                    <a:srgbClr val="000000">
                      <a:alpha val="43137"/>
                    </a:srgbClr>
                  </a:outerShdw>
                </a:effectLst>
                <a:latin typeface="Sitka Text Semibold" pitchFamily="2" charset="0"/>
                <a:cs typeface="Times New Roman" pitchFamily="18" charset="0"/>
              </a:rPr>
              <a:t>Glasswing</a:t>
            </a:r>
            <a:endParaRPr lang="en-US" sz="3600" dirty="0">
              <a:solidFill>
                <a:srgbClr val="00B0F0"/>
              </a:solidFill>
              <a:effectLst>
                <a:outerShdw blurRad="38100" dist="38100" dir="2700000" algn="tl">
                  <a:srgbClr val="000000">
                    <a:alpha val="43137"/>
                  </a:srgbClr>
                </a:outerShdw>
              </a:effectLst>
              <a:latin typeface="Sitka Text Semibold" pitchFamily="2" charset="0"/>
              <a:cs typeface="Times New Roman" pitchFamily="18" charset="0"/>
            </a:endParaRPr>
          </a:p>
        </p:txBody>
      </p:sp>
      <p:sp>
        <p:nvSpPr>
          <p:cNvPr id="7" name="Metin kutusu 3"/>
          <p:cNvSpPr txBox="1"/>
          <p:nvPr/>
        </p:nvSpPr>
        <p:spPr>
          <a:xfrm>
            <a:off x="0" y="5954960"/>
            <a:ext cx="9144000" cy="523220"/>
          </a:xfrm>
          <a:prstGeom prst="rect">
            <a:avLst/>
          </a:prstGeom>
          <a:noFill/>
        </p:spPr>
        <p:txBody>
          <a:bodyPr wrap="square" rtlCol="0">
            <a:spAutoFit/>
          </a:bodyPr>
          <a:lstStyle/>
          <a:p>
            <a:pPr algn="ctr"/>
            <a:r>
              <a:rPr lang="en-US" sz="2800" dirty="0" smtClean="0">
                <a:solidFill>
                  <a:schemeClr val="accent4"/>
                </a:solidFill>
                <a:effectLst>
                  <a:outerShdw blurRad="38100" dist="38100" dir="2700000" algn="tl">
                    <a:srgbClr val="000000">
                      <a:alpha val="43137"/>
                    </a:srgbClr>
                  </a:outerShdw>
                </a:effectLst>
                <a:latin typeface="Consolas" pitchFamily="49" charset="0"/>
                <a:cs typeface="Consolas" pitchFamily="49" charset="0"/>
              </a:rPr>
              <a:t>1</a:t>
            </a:r>
            <a:r>
              <a:rPr lang="en-US" sz="2800" baseline="30000" dirty="0" smtClean="0">
                <a:solidFill>
                  <a:schemeClr val="accent4"/>
                </a:solidFill>
                <a:effectLst>
                  <a:outerShdw blurRad="38100" dist="38100" dir="2700000" algn="tl">
                    <a:srgbClr val="000000">
                      <a:alpha val="43137"/>
                    </a:srgbClr>
                  </a:outerShdw>
                </a:effectLst>
                <a:latin typeface="Consolas" pitchFamily="49" charset="0"/>
                <a:cs typeface="Consolas" pitchFamily="49" charset="0"/>
              </a:rPr>
              <a:t>st</a:t>
            </a:r>
            <a:r>
              <a:rPr lang="en-US" sz="2800" dirty="0" smtClean="0">
                <a:solidFill>
                  <a:schemeClr val="accent4"/>
                </a:solidFill>
                <a:effectLst>
                  <a:outerShdw blurRad="38100" dist="38100" dir="2700000" algn="tl">
                    <a:srgbClr val="000000">
                      <a:alpha val="43137"/>
                    </a:srgbClr>
                  </a:outerShdw>
                </a:effectLst>
                <a:latin typeface="Consolas" pitchFamily="49" charset="0"/>
                <a:cs typeface="Consolas" pitchFamily="49" charset="0"/>
              </a:rPr>
              <a:t> </a:t>
            </a:r>
            <a:r>
              <a:rPr lang="en-US" sz="2800" dirty="0">
                <a:solidFill>
                  <a:schemeClr val="accent4"/>
                </a:solidFill>
                <a:effectLst>
                  <a:outerShdw blurRad="38100" dist="38100" dir="2700000" algn="tl">
                    <a:srgbClr val="000000">
                      <a:alpha val="43137"/>
                    </a:srgbClr>
                  </a:outerShdw>
                </a:effectLst>
                <a:latin typeface="Consolas" pitchFamily="49" charset="0"/>
                <a:cs typeface="Consolas" pitchFamily="49" charset="0"/>
              </a:rPr>
              <a:t>stage strategy of anthropic</a:t>
            </a:r>
            <a:endParaRPr lang="az-Latn-AZ" sz="2800" dirty="0">
              <a:solidFill>
                <a:schemeClr val="accent4"/>
              </a:solidFill>
              <a:effectLst>
                <a:outerShdw blurRad="38100" dist="38100" dir="2700000" algn="tl">
                  <a:srgbClr val="000000">
                    <a:alpha val="43137"/>
                  </a:srgbClr>
                </a:outerShdw>
              </a:effectLst>
              <a:latin typeface="Consolas" pitchFamily="49" charset="0"/>
              <a:cs typeface="Consolas" pitchFamily="49" charset="0"/>
            </a:endParaRPr>
          </a:p>
        </p:txBody>
      </p:sp>
      <p:sp>
        <p:nvSpPr>
          <p:cNvPr id="4" name="Metin kutusu 2"/>
          <p:cNvSpPr txBox="1"/>
          <p:nvPr/>
        </p:nvSpPr>
        <p:spPr>
          <a:xfrm>
            <a:off x="293754" y="1705823"/>
            <a:ext cx="4300000" cy="4708981"/>
          </a:xfrm>
          <a:prstGeom prst="rect">
            <a:avLst/>
          </a:prstGeom>
          <a:noFill/>
        </p:spPr>
        <p:txBody>
          <a:bodyPr wrap="square" rtlCol="0">
            <a:spAutoFit/>
          </a:bodyPr>
          <a:lstStyle/>
          <a:p>
            <a:pPr algn="l"/>
            <a:r>
              <a:rPr lang="en-US" sz="1600" dirty="0" smtClean="0">
                <a:latin typeface="Consolas" pitchFamily="49" charset="0"/>
                <a:cs typeface="Consolas" pitchFamily="49" charset="0"/>
              </a:rPr>
              <a:t>Today Anthropic Mythos only open for ~50 American companies. At this moment they using this model for only finding vulnerabilities of this companies and patching them before anybody else’s </a:t>
            </a:r>
            <a:r>
              <a:rPr lang="en-US" sz="1600" dirty="0" err="1" smtClean="0">
                <a:latin typeface="Consolas" pitchFamily="49" charset="0"/>
                <a:cs typeface="Consolas" pitchFamily="49" charset="0"/>
              </a:rPr>
              <a:t>access</a:t>
            </a:r>
            <a:r>
              <a:rPr lang="en-US" sz="1600" dirty="0" smtClean="0">
                <a:latin typeface="Consolas" pitchFamily="49" charset="0"/>
                <a:cs typeface="Consolas" pitchFamily="49" charset="0"/>
              </a:rPr>
              <a:t> to this model. But there are a question: How other countries </a:t>
            </a:r>
            <a:r>
              <a:rPr lang="en-US" sz="1600" dirty="0" err="1" smtClean="0">
                <a:latin typeface="Consolas" pitchFamily="49" charset="0"/>
                <a:cs typeface="Consolas" pitchFamily="49" charset="0"/>
              </a:rPr>
              <a:t>softwares</a:t>
            </a:r>
            <a:r>
              <a:rPr lang="en-US" sz="1600" dirty="0" smtClean="0">
                <a:latin typeface="Consolas" pitchFamily="49" charset="0"/>
                <a:cs typeface="Consolas" pitchFamily="49" charset="0"/>
              </a:rPr>
              <a:t> can protect them? How ethical letting to use this thing to only some segment of people? And Is it vulnerability being outside </a:t>
            </a:r>
            <a:r>
              <a:rPr lang="en-US" sz="1600" dirty="0" err="1" smtClean="0">
                <a:latin typeface="Consolas" pitchFamily="49" charset="0"/>
                <a:cs typeface="Consolas" pitchFamily="49" charset="0"/>
              </a:rPr>
              <a:t>Glasswing</a:t>
            </a:r>
            <a:r>
              <a:rPr lang="en-US" sz="1600" dirty="0">
                <a:latin typeface="Consolas" pitchFamily="49" charset="0"/>
                <a:cs typeface="Consolas" pitchFamily="49" charset="0"/>
              </a:rPr>
              <a:t>?</a:t>
            </a:r>
            <a:endParaRPr lang="en-US" sz="2000" dirty="0" smtClean="0">
              <a:latin typeface="Consolas" pitchFamily="49" charset="0"/>
              <a:cs typeface="Consolas" pitchFamily="49"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32040" y="1115365"/>
            <a:ext cx="3685148" cy="1972609"/>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32040" y="3087974"/>
            <a:ext cx="3685148" cy="1944681"/>
          </a:xfrm>
          <a:prstGeom prst="rect">
            <a:avLst/>
          </a:prstGeom>
        </p:spPr>
      </p:pic>
      <p:sp>
        <p:nvSpPr>
          <p:cNvPr id="8" name="TextBox 7"/>
          <p:cNvSpPr txBox="1"/>
          <p:nvPr/>
        </p:nvSpPr>
        <p:spPr>
          <a:xfrm>
            <a:off x="6012160" y="5032655"/>
            <a:ext cx="1728192" cy="276999"/>
          </a:xfrm>
          <a:prstGeom prst="rect">
            <a:avLst/>
          </a:prstGeom>
          <a:noFill/>
        </p:spPr>
        <p:txBody>
          <a:bodyPr wrap="square" rtlCol="0">
            <a:spAutoFit/>
          </a:bodyPr>
          <a:lstStyle/>
          <a:p>
            <a:r>
              <a:rPr lang="en-US" sz="1200" dirty="0" smtClean="0">
                <a:latin typeface="Times New Roman" panose="02020603050405020304" pitchFamily="18" charset="0"/>
                <a:cs typeface="Times New Roman" panose="02020603050405020304" pitchFamily="18" charset="0"/>
              </a:rPr>
              <a:t>+ ~40 companies more</a:t>
            </a:r>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541464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etin kutusu 5"/>
          <p:cNvSpPr txBox="1"/>
          <p:nvPr/>
        </p:nvSpPr>
        <p:spPr>
          <a:xfrm>
            <a:off x="0" y="0"/>
            <a:ext cx="9144000" cy="830997"/>
          </a:xfrm>
          <a:prstGeom prst="rect">
            <a:avLst/>
          </a:prstGeom>
          <a:noFill/>
        </p:spPr>
        <p:txBody>
          <a:bodyPr wrap="square" rtlCol="0">
            <a:spAutoFit/>
          </a:bodyPr>
          <a:lstStyle/>
          <a:p>
            <a:pPr algn="ctr"/>
            <a:r>
              <a:rPr lang="en-US" sz="4800" b="1" i="1" dirty="0" smtClean="0">
                <a:solidFill>
                  <a:srgbClr val="00B0F0"/>
                </a:solidFill>
                <a:effectLst>
                  <a:outerShdw blurRad="38100" dist="38100" dir="2700000" algn="tl">
                    <a:srgbClr val="000000">
                      <a:alpha val="43137"/>
                    </a:srgbClr>
                  </a:outerShdw>
                </a:effectLst>
                <a:latin typeface="Times New Roman" pitchFamily="18" charset="0"/>
                <a:cs typeface="Times New Roman" pitchFamily="18" charset="0"/>
              </a:rPr>
              <a:t>What is next? </a:t>
            </a:r>
            <a:endParaRPr lang="en-US" sz="4800" b="1" i="1" dirty="0">
              <a:solidFill>
                <a:srgbClr val="00B0F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7" name="Metin kutusu 3"/>
          <p:cNvSpPr txBox="1"/>
          <p:nvPr/>
        </p:nvSpPr>
        <p:spPr>
          <a:xfrm>
            <a:off x="0" y="5954960"/>
            <a:ext cx="9144000" cy="523220"/>
          </a:xfrm>
          <a:prstGeom prst="rect">
            <a:avLst/>
          </a:prstGeom>
          <a:noFill/>
        </p:spPr>
        <p:txBody>
          <a:bodyPr wrap="square" rtlCol="0">
            <a:spAutoFit/>
          </a:bodyPr>
          <a:lstStyle/>
          <a:p>
            <a:pPr algn="ctr"/>
            <a:r>
              <a:rPr lang="en-US" sz="2800" dirty="0" smtClean="0">
                <a:solidFill>
                  <a:schemeClr val="accent4"/>
                </a:solidFill>
                <a:effectLst>
                  <a:outerShdw blurRad="38100" dist="38100" dir="2700000" algn="tl">
                    <a:srgbClr val="000000">
                      <a:alpha val="43137"/>
                    </a:srgbClr>
                  </a:outerShdw>
                </a:effectLst>
                <a:latin typeface="Consolas" pitchFamily="49" charset="0"/>
                <a:cs typeface="Consolas" pitchFamily="49" charset="0"/>
              </a:rPr>
              <a:t>Unpredictable future of AI</a:t>
            </a:r>
            <a:endParaRPr lang="az-Latn-AZ" sz="2800" dirty="0">
              <a:solidFill>
                <a:schemeClr val="accent4"/>
              </a:solidFill>
              <a:effectLst>
                <a:outerShdw blurRad="38100" dist="38100" dir="2700000" algn="tl">
                  <a:srgbClr val="000000">
                    <a:alpha val="43137"/>
                  </a:srgbClr>
                </a:outerShdw>
              </a:effectLst>
              <a:latin typeface="Consolas" pitchFamily="49" charset="0"/>
              <a:cs typeface="Consolas" pitchFamily="49" charset="0"/>
            </a:endParaRPr>
          </a:p>
        </p:txBody>
      </p:sp>
      <p:sp>
        <p:nvSpPr>
          <p:cNvPr id="2" name="TextBox 1"/>
          <p:cNvSpPr txBox="1"/>
          <p:nvPr/>
        </p:nvSpPr>
        <p:spPr>
          <a:xfrm>
            <a:off x="0" y="677108"/>
            <a:ext cx="9144000" cy="307777"/>
          </a:xfrm>
          <a:prstGeom prst="rect">
            <a:avLst/>
          </a:prstGeom>
          <a:noFill/>
        </p:spPr>
        <p:txBody>
          <a:bodyPr wrap="square" rtlCol="0">
            <a:spAutoFit/>
          </a:bodyPr>
          <a:lstStyle/>
          <a:p>
            <a:pPr algn="ctr"/>
            <a:r>
              <a:rPr lang="en-US" sz="1400" i="1" dirty="0" smtClean="0">
                <a:solidFill>
                  <a:srgbClr val="FA65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My </a:t>
            </a:r>
            <a:r>
              <a:rPr lang="en-US" sz="1400" i="1" dirty="0" smtClean="0">
                <a:solidFill>
                  <a:srgbClr val="FA65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science fiction </a:t>
            </a:r>
            <a:r>
              <a:rPr lang="en-US" sz="1400" i="1" dirty="0" smtClean="0">
                <a:solidFill>
                  <a:srgbClr val="FA65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theories</a:t>
            </a:r>
            <a:endParaRPr lang="en-US" sz="1400" i="1" dirty="0">
              <a:solidFill>
                <a:srgbClr val="FA65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TextBox 2"/>
          <p:cNvSpPr txBox="1"/>
          <p:nvPr/>
        </p:nvSpPr>
        <p:spPr>
          <a:xfrm>
            <a:off x="0" y="2134307"/>
            <a:ext cx="9144000" cy="923330"/>
          </a:xfrm>
          <a:prstGeom prst="rect">
            <a:avLst/>
          </a:prstGeom>
          <a:noFill/>
        </p:spPr>
        <p:txBody>
          <a:bodyPr wrap="square" rtlCol="0">
            <a:spAutoFit/>
          </a:bodyPr>
          <a:lstStyle/>
          <a:p>
            <a:r>
              <a:rPr lang="en-US" dirty="0" smtClean="0">
                <a:latin typeface="Consolas" panose="020B0609020204030204" pitchFamily="49" charset="0"/>
              </a:rPr>
              <a:t>FORECAST 1: Mythos will be isolated and accessible for only big companies. Non-American companies would buy mythos after some time and their actions will be watched by anthropic.</a:t>
            </a:r>
            <a:endParaRPr lang="en-US" dirty="0">
              <a:latin typeface="Consolas" panose="020B0609020204030204" pitchFamily="49" charset="0"/>
            </a:endParaRPr>
          </a:p>
        </p:txBody>
      </p:sp>
      <p:sp>
        <p:nvSpPr>
          <p:cNvPr id="8" name="TextBox 7"/>
          <p:cNvSpPr txBox="1"/>
          <p:nvPr/>
        </p:nvSpPr>
        <p:spPr>
          <a:xfrm>
            <a:off x="0" y="1116613"/>
            <a:ext cx="9144000" cy="646331"/>
          </a:xfrm>
          <a:prstGeom prst="rect">
            <a:avLst/>
          </a:prstGeom>
          <a:noFill/>
        </p:spPr>
        <p:txBody>
          <a:bodyPr wrap="square" rtlCol="0">
            <a:spAutoFit/>
          </a:bodyPr>
          <a:lstStyle/>
          <a:p>
            <a:r>
              <a:rPr lang="en-US" dirty="0" smtClean="0">
                <a:latin typeface="Consolas" panose="020B0609020204030204" pitchFamily="49" charset="0"/>
              </a:rPr>
              <a:t>Mythos is not a hype it will change all IT structure of world totally and it can be good or bad. It’s about humanity’s will.</a:t>
            </a:r>
            <a:endParaRPr lang="en-US" dirty="0">
              <a:latin typeface="Consolas" panose="020B0609020204030204" pitchFamily="49" charset="0"/>
            </a:endParaRPr>
          </a:p>
        </p:txBody>
      </p:sp>
      <p:sp>
        <p:nvSpPr>
          <p:cNvPr id="9" name="TextBox 8"/>
          <p:cNvSpPr txBox="1"/>
          <p:nvPr/>
        </p:nvSpPr>
        <p:spPr>
          <a:xfrm>
            <a:off x="0" y="3429000"/>
            <a:ext cx="9144000" cy="1477328"/>
          </a:xfrm>
          <a:prstGeom prst="rect">
            <a:avLst/>
          </a:prstGeom>
          <a:noFill/>
        </p:spPr>
        <p:txBody>
          <a:bodyPr wrap="square" rtlCol="0">
            <a:spAutoFit/>
          </a:bodyPr>
          <a:lstStyle/>
          <a:p>
            <a:r>
              <a:rPr lang="en-US" dirty="0" smtClean="0">
                <a:latin typeface="Consolas" panose="020B0609020204030204" pitchFamily="49" charset="0"/>
              </a:rPr>
              <a:t>FORECAST 2: They will open this only big American companies. And maybe they want making a new limited version of it and sell it to public for </a:t>
            </a:r>
            <a:r>
              <a:rPr lang="en-US" dirty="0" err="1" smtClean="0">
                <a:latin typeface="Consolas" panose="020B0609020204030204" pitchFamily="49" charset="0"/>
              </a:rPr>
              <a:t>competing</a:t>
            </a:r>
            <a:r>
              <a:rPr lang="en-US" dirty="0" smtClean="0">
                <a:latin typeface="Consolas" panose="020B0609020204030204" pitchFamily="49" charset="0"/>
              </a:rPr>
              <a:t> with </a:t>
            </a:r>
            <a:r>
              <a:rPr lang="en-US" dirty="0" err="1" smtClean="0">
                <a:latin typeface="Consolas" panose="020B0609020204030204" pitchFamily="49" charset="0"/>
              </a:rPr>
              <a:t>Gemini</a:t>
            </a:r>
            <a:r>
              <a:rPr lang="en-US" dirty="0" smtClean="0">
                <a:latin typeface="Consolas" panose="020B0609020204030204" pitchFamily="49" charset="0"/>
              </a:rPr>
              <a:t>, </a:t>
            </a:r>
            <a:r>
              <a:rPr lang="en-US" dirty="0" err="1" smtClean="0">
                <a:latin typeface="Consolas" panose="020B0609020204030204" pitchFamily="49" charset="0"/>
              </a:rPr>
              <a:t>GPT</a:t>
            </a:r>
            <a:r>
              <a:rPr lang="en-US" dirty="0" smtClean="0">
                <a:latin typeface="Consolas" panose="020B0609020204030204" pitchFamily="49" charset="0"/>
              </a:rPr>
              <a:t> etc. It will be so expensive and will be a </a:t>
            </a:r>
            <a:r>
              <a:rPr lang="en-US" dirty="0" err="1" smtClean="0">
                <a:latin typeface="Consolas" panose="020B0609020204030204" pitchFamily="49" charset="0"/>
              </a:rPr>
              <a:t>standard</a:t>
            </a:r>
            <a:r>
              <a:rPr lang="en-US" dirty="0" smtClean="0">
                <a:latin typeface="Consolas" panose="020B0609020204030204" pitchFamily="49" charset="0"/>
              </a:rPr>
              <a:t> LLM that makes boring presentations and unsecure web-sites.</a:t>
            </a:r>
            <a:endParaRPr lang="en-US" dirty="0">
              <a:latin typeface="Consolas" panose="020B0609020204030204" pitchFamily="49" charset="0"/>
            </a:endParaRPr>
          </a:p>
        </p:txBody>
      </p:sp>
    </p:spTree>
    <p:extLst>
      <p:ext uri="{BB962C8B-B14F-4D97-AF65-F5344CB8AC3E}">
        <p14:creationId xmlns:p14="http://schemas.microsoft.com/office/powerpoint/2010/main" val="50891305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etin kutusu 5"/>
          <p:cNvSpPr txBox="1"/>
          <p:nvPr/>
        </p:nvSpPr>
        <p:spPr>
          <a:xfrm>
            <a:off x="0" y="0"/>
            <a:ext cx="9144000" cy="830997"/>
          </a:xfrm>
          <a:prstGeom prst="rect">
            <a:avLst/>
          </a:prstGeom>
          <a:noFill/>
        </p:spPr>
        <p:txBody>
          <a:bodyPr wrap="square" rtlCol="0">
            <a:spAutoFit/>
          </a:bodyPr>
          <a:lstStyle/>
          <a:p>
            <a:pPr algn="ctr"/>
            <a:r>
              <a:rPr lang="en-US" sz="4800" b="1" i="1" dirty="0" smtClean="0">
                <a:solidFill>
                  <a:srgbClr val="00B0F0"/>
                </a:solidFill>
                <a:effectLst>
                  <a:outerShdw blurRad="38100" dist="38100" dir="2700000" algn="tl">
                    <a:srgbClr val="000000">
                      <a:alpha val="43137"/>
                    </a:srgbClr>
                  </a:outerShdw>
                </a:effectLst>
                <a:latin typeface="Times New Roman" pitchFamily="18" charset="0"/>
                <a:cs typeface="Times New Roman" pitchFamily="18" charset="0"/>
              </a:rPr>
              <a:t>What is next? </a:t>
            </a:r>
            <a:endParaRPr lang="en-US" sz="4800" b="1" i="1" dirty="0">
              <a:solidFill>
                <a:srgbClr val="00B0F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7" name="Metin kutusu 3"/>
          <p:cNvSpPr txBox="1"/>
          <p:nvPr/>
        </p:nvSpPr>
        <p:spPr>
          <a:xfrm>
            <a:off x="0" y="5954960"/>
            <a:ext cx="9144000" cy="523220"/>
          </a:xfrm>
          <a:prstGeom prst="rect">
            <a:avLst/>
          </a:prstGeom>
          <a:noFill/>
        </p:spPr>
        <p:txBody>
          <a:bodyPr wrap="square" rtlCol="0">
            <a:spAutoFit/>
          </a:bodyPr>
          <a:lstStyle/>
          <a:p>
            <a:pPr algn="ctr"/>
            <a:r>
              <a:rPr lang="en-US" sz="2800" dirty="0" smtClean="0">
                <a:solidFill>
                  <a:schemeClr val="accent4"/>
                </a:solidFill>
                <a:effectLst>
                  <a:outerShdw blurRad="38100" dist="38100" dir="2700000" algn="tl">
                    <a:srgbClr val="000000">
                      <a:alpha val="43137"/>
                    </a:srgbClr>
                  </a:outerShdw>
                </a:effectLst>
                <a:latin typeface="Consolas" pitchFamily="49" charset="0"/>
                <a:cs typeface="Consolas" pitchFamily="49" charset="0"/>
              </a:rPr>
              <a:t>Unpredictable future of AI</a:t>
            </a:r>
            <a:endParaRPr lang="az-Latn-AZ" sz="2800" dirty="0">
              <a:solidFill>
                <a:schemeClr val="accent4"/>
              </a:solidFill>
              <a:effectLst>
                <a:outerShdw blurRad="38100" dist="38100" dir="2700000" algn="tl">
                  <a:srgbClr val="000000">
                    <a:alpha val="43137"/>
                  </a:srgbClr>
                </a:outerShdw>
              </a:effectLst>
              <a:latin typeface="Consolas" pitchFamily="49" charset="0"/>
              <a:cs typeface="Consolas" pitchFamily="49" charset="0"/>
            </a:endParaRPr>
          </a:p>
        </p:txBody>
      </p:sp>
      <p:sp>
        <p:nvSpPr>
          <p:cNvPr id="4" name="TextBox 3"/>
          <p:cNvSpPr txBox="1"/>
          <p:nvPr/>
        </p:nvSpPr>
        <p:spPr>
          <a:xfrm>
            <a:off x="0" y="677108"/>
            <a:ext cx="9144000" cy="307777"/>
          </a:xfrm>
          <a:prstGeom prst="rect">
            <a:avLst/>
          </a:prstGeom>
          <a:noFill/>
        </p:spPr>
        <p:txBody>
          <a:bodyPr wrap="square" rtlCol="0">
            <a:spAutoFit/>
          </a:bodyPr>
          <a:lstStyle/>
          <a:p>
            <a:pPr algn="ctr"/>
            <a:r>
              <a:rPr lang="en-US" sz="1400" i="1" dirty="0" smtClean="0">
                <a:solidFill>
                  <a:srgbClr val="FA65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My </a:t>
            </a:r>
            <a:r>
              <a:rPr lang="en-US" sz="1400" i="1" dirty="0" smtClean="0">
                <a:solidFill>
                  <a:srgbClr val="FA65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sci-fi </a:t>
            </a:r>
            <a:r>
              <a:rPr lang="en-US" sz="1400" i="1" dirty="0" smtClean="0">
                <a:solidFill>
                  <a:srgbClr val="FA65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theories</a:t>
            </a:r>
            <a:endParaRPr lang="en-US" sz="1400" i="1" dirty="0">
              <a:solidFill>
                <a:srgbClr val="FA65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 name="TextBox 4"/>
          <p:cNvSpPr txBox="1"/>
          <p:nvPr/>
        </p:nvSpPr>
        <p:spPr>
          <a:xfrm>
            <a:off x="0" y="1577096"/>
            <a:ext cx="9144000" cy="3785652"/>
          </a:xfrm>
          <a:prstGeom prst="rect">
            <a:avLst/>
          </a:prstGeom>
          <a:noFill/>
        </p:spPr>
        <p:txBody>
          <a:bodyPr wrap="square" rtlCol="0">
            <a:spAutoFit/>
          </a:bodyPr>
          <a:lstStyle/>
          <a:p>
            <a:r>
              <a:rPr lang="en-US" sz="1600" dirty="0" smtClean="0">
                <a:latin typeface="Consolas" panose="020B0609020204030204" pitchFamily="49" charset="0"/>
              </a:rPr>
              <a:t>FORECAST 3: It looks like conspiracy theory </a:t>
            </a:r>
            <a:r>
              <a:rPr lang="en-US" sz="1600" dirty="0">
                <a:latin typeface="Consolas" panose="020B0609020204030204" pitchFamily="49" charset="0"/>
              </a:rPr>
              <a:t>a</a:t>
            </a:r>
            <a:r>
              <a:rPr lang="en-US" sz="1600" dirty="0" smtClean="0">
                <a:latin typeface="Consolas" panose="020B0609020204030204" pitchFamily="49" charset="0"/>
              </a:rPr>
              <a:t>nd maybe they will release it for public and after some time humanity will be figure out how they live with this. At every case after that nothing will be same. If Mythos is not very good too at software coding and it also codes plenty of vulnerabilities at every code like other models, vibe coding will dead. But if Mythos also so good at improving complex projects accurately it will be so expensive and software coding will be an expensive thing. So do you need a web-site? Better buy Mythos. Because your handmade or </a:t>
            </a:r>
            <a:r>
              <a:rPr lang="en-US" sz="1600" dirty="0" err="1" smtClean="0">
                <a:latin typeface="Consolas" panose="020B0609020204030204" pitchFamily="49" charset="0"/>
              </a:rPr>
              <a:t>Gemini</a:t>
            </a:r>
            <a:r>
              <a:rPr lang="en-US" sz="1600" dirty="0" smtClean="0">
                <a:latin typeface="Consolas" panose="020B0609020204030204" pitchFamily="49" charset="0"/>
              </a:rPr>
              <a:t>-powered site will be hacked in 5 minutes by some guy or but just bought Mythos. So count of IT workers at big companies will </a:t>
            </a:r>
            <a:r>
              <a:rPr lang="en-US" sz="1600" dirty="0" err="1" smtClean="0">
                <a:latin typeface="Consolas" panose="020B0609020204030204" pitchFamily="49" charset="0"/>
              </a:rPr>
              <a:t>extremely</a:t>
            </a:r>
            <a:r>
              <a:rPr lang="en-US" sz="1600" dirty="0" smtClean="0">
                <a:latin typeface="Consolas" panose="020B0609020204030204" pitchFamily="49" charset="0"/>
              </a:rPr>
              <a:t> reduce after release. I did think so about this, because (Yes. I know it is not exact same situation. But they are similar at some </a:t>
            </a:r>
            <a:r>
              <a:rPr lang="en-US" sz="1600" dirty="0" err="1" smtClean="0">
                <a:latin typeface="Consolas" panose="020B0609020204030204" pitchFamily="49" charset="0"/>
              </a:rPr>
              <a:t>point</a:t>
            </a:r>
            <a:r>
              <a:rPr lang="en-US" sz="1600" dirty="0" smtClean="0">
                <a:latin typeface="Consolas" panose="020B0609020204030204" pitchFamily="49" charset="0"/>
              </a:rPr>
              <a:t>. Who knows?) if you remember at 2019 </a:t>
            </a:r>
            <a:r>
              <a:rPr lang="en-US" sz="1600" dirty="0" err="1" smtClean="0">
                <a:latin typeface="Consolas" panose="020B0609020204030204" pitchFamily="49" charset="0"/>
              </a:rPr>
              <a:t>OpenAI</a:t>
            </a:r>
            <a:r>
              <a:rPr lang="en-US" sz="1600" dirty="0" smtClean="0">
                <a:latin typeface="Consolas" panose="020B0609020204030204" pitchFamily="49" charset="0"/>
              </a:rPr>
              <a:t> said we will not release GPT-2. They said a model with 1500 parameters is to dangerous. But today public AI models that more powerful than GPT-2 are countless. So why not? Maybe in future everybody will use mythos and its alternates for trying crack someone at the internet. </a:t>
            </a:r>
            <a:r>
              <a:rPr lang="en-US" sz="1600" dirty="0" smtClean="0">
                <a:latin typeface="Consolas" panose="020B0609020204030204" pitchFamily="49" charset="0"/>
                <a:sym typeface="Wingdings" panose="05000000000000000000" pitchFamily="2" charset="2"/>
              </a:rPr>
              <a:t></a:t>
            </a:r>
            <a:endParaRPr lang="en-US" sz="1600" dirty="0">
              <a:latin typeface="Consolas" panose="020B0609020204030204" pitchFamily="49" charset="0"/>
            </a:endParaRPr>
          </a:p>
        </p:txBody>
      </p:sp>
    </p:spTree>
    <p:extLst>
      <p:ext uri="{BB962C8B-B14F-4D97-AF65-F5344CB8AC3E}">
        <p14:creationId xmlns:p14="http://schemas.microsoft.com/office/powerpoint/2010/main" val="275490375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etin kutusu 4"/>
          <p:cNvSpPr txBox="1"/>
          <p:nvPr/>
        </p:nvSpPr>
        <p:spPr>
          <a:xfrm>
            <a:off x="0" y="3721044"/>
            <a:ext cx="9144000" cy="461665"/>
          </a:xfrm>
          <a:prstGeom prst="rect">
            <a:avLst/>
          </a:prstGeom>
          <a:noFill/>
        </p:spPr>
        <p:txBody>
          <a:bodyPr wrap="square" rtlCol="0">
            <a:spAutoFit/>
          </a:bodyPr>
          <a:lstStyle/>
          <a:p>
            <a:pPr algn="ctr"/>
            <a:r>
              <a:rPr lang="en-US" sz="2400" dirty="0" smtClean="0">
                <a:solidFill>
                  <a:srgbClr val="00B050"/>
                </a:solidFill>
                <a:latin typeface="Consolas" pitchFamily="49" charset="0"/>
                <a:cs typeface="Consolas" pitchFamily="49" charset="0"/>
              </a:rPr>
              <a:t>Free work of </a:t>
            </a:r>
            <a:r>
              <a:rPr lang="az-Latn-AZ" sz="2400" dirty="0" smtClean="0">
                <a:solidFill>
                  <a:srgbClr val="00B050"/>
                </a:solidFill>
                <a:effectLst>
                  <a:outerShdw blurRad="38100" dist="38100" dir="2700000" algn="tl">
                    <a:srgbClr val="000000">
                      <a:alpha val="43137"/>
                    </a:srgbClr>
                  </a:outerShdw>
                </a:effectLst>
                <a:latin typeface="Consolas" pitchFamily="49" charset="0"/>
                <a:cs typeface="Consolas" pitchFamily="49" charset="0"/>
              </a:rPr>
              <a:t>Yusif</a:t>
            </a:r>
            <a:r>
              <a:rPr lang="en-US" sz="2400" dirty="0" smtClean="0">
                <a:solidFill>
                  <a:srgbClr val="00B050"/>
                </a:solidFill>
                <a:effectLst>
                  <a:outerShdw blurRad="38100" dist="38100" dir="2700000" algn="tl">
                    <a:srgbClr val="000000">
                      <a:alpha val="43137"/>
                    </a:srgbClr>
                  </a:outerShdw>
                </a:effectLst>
                <a:latin typeface="Consolas" pitchFamily="49" charset="0"/>
                <a:cs typeface="Consolas" pitchFamily="49" charset="0"/>
              </a:rPr>
              <a:t> </a:t>
            </a:r>
            <a:r>
              <a:rPr lang="az-Latn-AZ" sz="2400" dirty="0" smtClean="0">
                <a:solidFill>
                  <a:srgbClr val="00B050"/>
                </a:solidFill>
                <a:effectLst>
                  <a:outerShdw blurRad="38100" dist="38100" dir="2700000" algn="tl">
                    <a:srgbClr val="000000">
                      <a:alpha val="43137"/>
                    </a:srgbClr>
                  </a:outerShdw>
                </a:effectLst>
                <a:latin typeface="Consolas" pitchFamily="49" charset="0"/>
                <a:cs typeface="Consolas" pitchFamily="49" charset="0"/>
              </a:rPr>
              <a:t>Samadov</a:t>
            </a:r>
            <a:endParaRPr lang="az-Latn-AZ" sz="2400" dirty="0">
              <a:solidFill>
                <a:srgbClr val="00B050"/>
              </a:solidFill>
              <a:effectLst>
                <a:outerShdw blurRad="38100" dist="38100" dir="2700000" algn="tl">
                  <a:srgbClr val="000000">
                    <a:alpha val="43137"/>
                  </a:srgbClr>
                </a:outerShdw>
              </a:effectLst>
              <a:latin typeface="Consolas" pitchFamily="49" charset="0"/>
              <a:cs typeface="Consolas" pitchFamily="49" charset="0"/>
            </a:endParaRPr>
          </a:p>
        </p:txBody>
      </p:sp>
      <p:sp>
        <p:nvSpPr>
          <p:cNvPr id="14" name="Metin kutusu 13"/>
          <p:cNvSpPr txBox="1"/>
          <p:nvPr/>
        </p:nvSpPr>
        <p:spPr>
          <a:xfrm>
            <a:off x="838267" y="1772816"/>
            <a:ext cx="7672793" cy="830997"/>
          </a:xfrm>
          <a:prstGeom prst="rect">
            <a:avLst/>
          </a:prstGeom>
          <a:noFill/>
        </p:spPr>
        <p:txBody>
          <a:bodyPr wrap="square" rtlCol="0">
            <a:spAutoFit/>
          </a:bodyPr>
          <a:lstStyle/>
          <a:p>
            <a:pPr algn="ctr"/>
            <a:r>
              <a:rPr lang="en-US" sz="4800" i="1" dirty="0" smtClean="0">
                <a:solidFill>
                  <a:srgbClr val="00B0F0"/>
                </a:solidFill>
                <a:effectLst>
                  <a:outerShdw blurRad="38100" dist="38100" dir="2700000" algn="tl">
                    <a:srgbClr val="000000">
                      <a:alpha val="43137"/>
                    </a:srgbClr>
                  </a:outerShdw>
                </a:effectLst>
                <a:latin typeface="Times New Roman" pitchFamily="18" charset="0"/>
                <a:cs typeface="Times New Roman" pitchFamily="18" charset="0"/>
              </a:rPr>
              <a:t>Thanks for attention</a:t>
            </a:r>
            <a:endParaRPr lang="az-Latn-AZ" sz="4800" i="1" dirty="0">
              <a:solidFill>
                <a:srgbClr val="00B0F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 name="Metin kutusu 4"/>
          <p:cNvSpPr txBox="1"/>
          <p:nvPr/>
        </p:nvSpPr>
        <p:spPr>
          <a:xfrm>
            <a:off x="0" y="6381328"/>
            <a:ext cx="9144000" cy="369332"/>
          </a:xfrm>
          <a:prstGeom prst="rect">
            <a:avLst/>
          </a:prstGeom>
          <a:noFill/>
        </p:spPr>
        <p:txBody>
          <a:bodyPr wrap="square" rtlCol="0">
            <a:spAutoFit/>
          </a:bodyPr>
          <a:lstStyle/>
          <a:p>
            <a:pPr algn="ctr"/>
            <a:r>
              <a:rPr lang="en-US" dirty="0" smtClean="0">
                <a:solidFill>
                  <a:srgbClr val="00B050"/>
                </a:solidFill>
                <a:latin typeface="Consolas" pitchFamily="49" charset="0"/>
                <a:cs typeface="Consolas" pitchFamily="49" charset="0"/>
              </a:rPr>
              <a:t>Communication and more about me: </a:t>
            </a:r>
            <a:r>
              <a:rPr lang="en-US" dirty="0" smtClean="0">
                <a:solidFill>
                  <a:srgbClr val="00B050"/>
                </a:solidFill>
                <a:latin typeface="Consolas" pitchFamily="49" charset="0"/>
                <a:cs typeface="Consolas" pitchFamily="49" charset="0"/>
              </a:rPr>
              <a:t>yusifsamadov457.github.io</a:t>
            </a:r>
            <a:endParaRPr lang="az-Latn-AZ" dirty="0">
              <a:solidFill>
                <a:srgbClr val="00B050"/>
              </a:solidFill>
              <a:effectLst>
                <a:outerShdw blurRad="38100" dist="38100" dir="2700000" algn="tl">
                  <a:srgbClr val="000000">
                    <a:alpha val="43137"/>
                  </a:srgbClr>
                </a:outerShdw>
              </a:effectLst>
              <a:latin typeface="Consolas" pitchFamily="49" charset="0"/>
              <a:cs typeface="Consolas" pitchFamily="49" charset="0"/>
            </a:endParaRPr>
          </a:p>
        </p:txBody>
      </p:sp>
    </p:spTree>
    <p:extLst>
      <p:ext uri="{BB962C8B-B14F-4D97-AF65-F5344CB8AC3E}">
        <p14:creationId xmlns:p14="http://schemas.microsoft.com/office/powerpoint/2010/main" val="172377611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etin kutusu 5"/>
          <p:cNvSpPr txBox="1"/>
          <p:nvPr/>
        </p:nvSpPr>
        <p:spPr>
          <a:xfrm>
            <a:off x="0" y="-61556"/>
            <a:ext cx="9144000" cy="646331"/>
          </a:xfrm>
          <a:prstGeom prst="rect">
            <a:avLst/>
          </a:prstGeom>
          <a:noFill/>
        </p:spPr>
        <p:txBody>
          <a:bodyPr wrap="square" rtlCol="0">
            <a:spAutoFit/>
          </a:bodyPr>
          <a:lstStyle/>
          <a:p>
            <a:pPr algn="ctr"/>
            <a:r>
              <a:rPr lang="en-US" sz="3600" dirty="0" smtClean="0">
                <a:solidFill>
                  <a:srgbClr val="00B0F0"/>
                </a:solidFill>
                <a:effectLst>
                  <a:outerShdw blurRad="38100" dist="38100" dir="2700000" algn="tl">
                    <a:srgbClr val="000000">
                      <a:alpha val="43137"/>
                    </a:srgbClr>
                  </a:outerShdw>
                </a:effectLst>
                <a:latin typeface="Consolas" pitchFamily="49" charset="0"/>
                <a:cs typeface="Consolas" pitchFamily="49" charset="0"/>
              </a:rPr>
              <a:t>References</a:t>
            </a:r>
          </a:p>
        </p:txBody>
      </p:sp>
      <p:sp>
        <p:nvSpPr>
          <p:cNvPr id="2" name="Metin kutusu 1"/>
          <p:cNvSpPr txBox="1"/>
          <p:nvPr/>
        </p:nvSpPr>
        <p:spPr>
          <a:xfrm>
            <a:off x="611560" y="476672"/>
            <a:ext cx="7920880" cy="3416320"/>
          </a:xfrm>
          <a:prstGeom prst="rect">
            <a:avLst/>
          </a:prstGeom>
          <a:noFill/>
        </p:spPr>
        <p:txBody>
          <a:bodyPr wrap="square" rtlCol="0">
            <a:spAutoFit/>
          </a:bodyPr>
          <a:lstStyle/>
          <a:p>
            <a:pPr marL="342900" indent="-342900" algn="just">
              <a:buFontTx/>
              <a:buAutoNum type="arabicParenR"/>
            </a:pPr>
            <a:r>
              <a:rPr lang="en-US" b="1" dirty="0" smtClean="0">
                <a:latin typeface="+mj-lt"/>
                <a:cs typeface="Times New Roman" panose="02020603050405020304" pitchFamily="18" charset="0"/>
                <a:hlinkClick r:id="rId2" tooltip="Anthropic - Glasswing"/>
              </a:rPr>
              <a:t>www.anthropic.com/glasswing</a:t>
            </a:r>
            <a:endParaRPr lang="en-US" b="1" dirty="0" smtClean="0">
              <a:latin typeface="+mj-lt"/>
              <a:cs typeface="Times New Roman" panose="02020603050405020304" pitchFamily="18" charset="0"/>
            </a:endParaRPr>
          </a:p>
          <a:p>
            <a:pPr marL="342900" indent="-342900" algn="just">
              <a:buFontTx/>
              <a:buAutoNum type="arabicParenR"/>
            </a:pPr>
            <a:r>
              <a:rPr lang="en-US" b="1" dirty="0" smtClean="0">
                <a:latin typeface="+mj-lt"/>
                <a:cs typeface="Times New Roman" panose="02020603050405020304" pitchFamily="18" charset="0"/>
                <a:hlinkClick r:id="rId3"/>
              </a:rPr>
              <a:t>www-cdn.anthropic.com/8b8380204f74670be75e81c820ca8dda846ab289.pdf</a:t>
            </a:r>
            <a:endParaRPr lang="en-US" b="1" dirty="0" smtClean="0">
              <a:latin typeface="+mj-lt"/>
              <a:cs typeface="Times New Roman" panose="02020603050405020304" pitchFamily="18" charset="0"/>
            </a:endParaRPr>
          </a:p>
          <a:p>
            <a:pPr marL="342900" indent="-342900" algn="just">
              <a:buFontTx/>
              <a:buAutoNum type="arabicParenR"/>
            </a:pPr>
            <a:r>
              <a:rPr lang="en-US" b="1" dirty="0" smtClean="0">
                <a:latin typeface="+mj-lt"/>
                <a:cs typeface="Times New Roman" panose="02020603050405020304" pitchFamily="18" charset="0"/>
                <a:hlinkClick r:id="rId4"/>
              </a:rPr>
              <a:t>www-cdn.anthropic.com/3edfc1a7f947aa81841cf88305cb513f184c36ae.pdf</a:t>
            </a:r>
            <a:endParaRPr lang="en-US" b="1" dirty="0" smtClean="0">
              <a:latin typeface="+mj-lt"/>
              <a:cs typeface="Times New Roman" panose="02020603050405020304" pitchFamily="18" charset="0"/>
            </a:endParaRPr>
          </a:p>
          <a:p>
            <a:pPr marL="342900" indent="-342900" algn="just">
              <a:buFontTx/>
              <a:buAutoNum type="arabicParenR"/>
            </a:pPr>
            <a:r>
              <a:rPr lang="en-US" b="1" dirty="0" smtClean="0">
                <a:latin typeface="+mj-lt"/>
                <a:cs typeface="Times New Roman" panose="02020603050405020304" pitchFamily="18" charset="0"/>
                <a:hlinkClick r:id="rId5"/>
              </a:rPr>
              <a:t>youtu.be/</a:t>
            </a:r>
            <a:r>
              <a:rPr lang="en-US" b="1" dirty="0" err="1" smtClean="0">
                <a:latin typeface="+mj-lt"/>
                <a:cs typeface="Times New Roman" panose="02020603050405020304" pitchFamily="18" charset="0"/>
                <a:hlinkClick r:id="rId5"/>
              </a:rPr>
              <a:t>RDUGbxslOcM?si</a:t>
            </a:r>
            <a:r>
              <a:rPr lang="en-US" b="1" dirty="0" smtClean="0">
                <a:latin typeface="+mj-lt"/>
                <a:cs typeface="Times New Roman" panose="02020603050405020304" pitchFamily="18" charset="0"/>
                <a:hlinkClick r:id="rId5"/>
              </a:rPr>
              <a:t>=</a:t>
            </a:r>
            <a:r>
              <a:rPr lang="en-US" b="1" dirty="0" err="1" smtClean="0">
                <a:latin typeface="+mj-lt"/>
                <a:cs typeface="Times New Roman" panose="02020603050405020304" pitchFamily="18" charset="0"/>
                <a:hlinkClick r:id="rId5"/>
              </a:rPr>
              <a:t>wzFNFIXYvzMPGong</a:t>
            </a:r>
            <a:endParaRPr lang="en-US" b="1" dirty="0" smtClean="0">
              <a:latin typeface="+mj-lt"/>
              <a:cs typeface="Times New Roman" panose="02020603050405020304" pitchFamily="18" charset="0"/>
            </a:endParaRPr>
          </a:p>
          <a:p>
            <a:pPr marL="342900" indent="-342900" algn="just">
              <a:buFontTx/>
              <a:buAutoNum type="arabicParenR"/>
            </a:pPr>
            <a:r>
              <a:rPr lang="en-US" b="1" dirty="0" smtClean="0">
                <a:latin typeface="+mj-lt"/>
                <a:cs typeface="Times New Roman" panose="02020603050405020304" pitchFamily="18" charset="0"/>
                <a:hlinkClick r:id="rId6"/>
              </a:rPr>
              <a:t>youtu.be/V6pgZKVcKpw?si=DtkVIolgQsL0RjRf</a:t>
            </a:r>
            <a:endParaRPr lang="en-US" b="1" dirty="0" smtClean="0">
              <a:latin typeface="+mj-lt"/>
              <a:cs typeface="Times New Roman" panose="02020603050405020304" pitchFamily="18" charset="0"/>
            </a:endParaRPr>
          </a:p>
          <a:p>
            <a:pPr marL="342900" indent="-342900" algn="just">
              <a:buFontTx/>
              <a:buAutoNum type="arabicParenR"/>
            </a:pPr>
            <a:r>
              <a:rPr lang="en-US" b="1" dirty="0" smtClean="0">
                <a:latin typeface="+mj-lt"/>
                <a:cs typeface="Times New Roman" panose="02020603050405020304" pitchFamily="18" charset="0"/>
                <a:hlinkClick r:id="rId7"/>
              </a:rPr>
              <a:t>youtu.be/t24iowTP1bI?si=pxUEIcUDIIyPk2FF</a:t>
            </a:r>
            <a:endParaRPr lang="en-US" b="1" dirty="0" smtClean="0">
              <a:latin typeface="+mj-lt"/>
              <a:cs typeface="Times New Roman" panose="02020603050405020304" pitchFamily="18" charset="0"/>
            </a:endParaRPr>
          </a:p>
          <a:p>
            <a:pPr marL="342900" indent="-342900" algn="just">
              <a:buFontTx/>
              <a:buAutoNum type="arabicParenR"/>
            </a:pPr>
            <a:r>
              <a:rPr lang="en-US" b="1" dirty="0" smtClean="0">
                <a:latin typeface="+mj-lt"/>
                <a:cs typeface="Times New Roman" panose="02020603050405020304" pitchFamily="18" charset="0"/>
                <a:hlinkClick r:id="rId8"/>
              </a:rPr>
              <a:t>medium.com</a:t>
            </a:r>
            <a:r>
              <a:rPr lang="en-US" b="1" dirty="0">
                <a:latin typeface="+mj-lt"/>
                <a:cs typeface="Times New Roman" panose="02020603050405020304" pitchFamily="18" charset="0"/>
                <a:hlinkClick r:id="rId8"/>
              </a:rPr>
              <a:t>/@</a:t>
            </a:r>
            <a:r>
              <a:rPr lang="en-US" b="1" dirty="0" smtClean="0">
                <a:latin typeface="+mj-lt"/>
                <a:cs typeface="Times New Roman" panose="02020603050405020304" pitchFamily="18" charset="0"/>
                <a:hlinkClick r:id="rId8"/>
              </a:rPr>
              <a:t>sebuzdugan/gpt-2-vs-modern-llms-what-too-dangerous-looked-like-in-2019-ffa313366607</a:t>
            </a:r>
            <a:endParaRPr lang="en-US" b="1" dirty="0" smtClean="0">
              <a:latin typeface="+mj-lt"/>
              <a:cs typeface="Times New Roman" panose="02020603050405020304" pitchFamily="18" charset="0"/>
            </a:endParaRPr>
          </a:p>
          <a:p>
            <a:pPr marL="342900" indent="-342900" algn="just">
              <a:buFontTx/>
              <a:buAutoNum type="arabicParenR"/>
            </a:pPr>
            <a:r>
              <a:rPr lang="en-US" b="1" dirty="0" smtClean="0">
                <a:latin typeface="+mj-lt"/>
                <a:cs typeface="Times New Roman" panose="02020603050405020304" pitchFamily="18" charset="0"/>
                <a:hlinkClick r:id="rId9"/>
              </a:rPr>
              <a:t>www.bbc.com/news/articles/crk1py1jgzko</a:t>
            </a:r>
            <a:endParaRPr lang="en-US" b="1" dirty="0" smtClean="0">
              <a:latin typeface="+mj-lt"/>
              <a:cs typeface="Times New Roman" panose="02020603050405020304" pitchFamily="18" charset="0"/>
            </a:endParaRPr>
          </a:p>
          <a:p>
            <a:pPr marL="342900" indent="-342900" algn="just">
              <a:buFontTx/>
              <a:buAutoNum type="arabicParenR"/>
            </a:pPr>
            <a:r>
              <a:rPr lang="en-US" b="1" dirty="0" smtClean="0">
                <a:latin typeface="+mj-lt"/>
                <a:cs typeface="Times New Roman" panose="02020603050405020304" pitchFamily="18" charset="0"/>
                <a:hlinkClick r:id="rId10"/>
              </a:rPr>
              <a:t>www.researchgate.net/publication/404019837_From_GPT-2_to_Claude_Mythos_How_Too_Dangerous_to_Release_Narratives_Shape_Perceptions_of_Frontier_AI</a:t>
            </a:r>
            <a:endParaRPr lang="en-US" b="1" dirty="0" smtClean="0">
              <a:latin typeface="+mj-lt"/>
              <a:cs typeface="Times New Roman" panose="02020603050405020304" pitchFamily="18" charset="0"/>
            </a:endParaRPr>
          </a:p>
        </p:txBody>
      </p:sp>
    </p:spTree>
    <p:extLst>
      <p:ext uri="{BB962C8B-B14F-4D97-AF65-F5344CB8AC3E}">
        <p14:creationId xmlns:p14="http://schemas.microsoft.com/office/powerpoint/2010/main" val="3806183557"/>
      </p:ext>
    </p:extLst>
  </p:cSld>
  <p:clrMapOvr>
    <a:masterClrMapping/>
  </p:clrMapOvr>
  <p:timing>
    <p:tnLst>
      <p:par>
        <p:cTn id="1" dur="indefinite" restart="never" nodeType="tmRoot"/>
      </p:par>
    </p:tnLst>
  </p:timing>
</p:sld>
</file>

<file path=ppt/theme/theme1.xml><?xml version="1.0" encoding="utf-8"?>
<a:theme xmlns:a="http://schemas.openxmlformats.org/drawingml/2006/main" name="Ufuk">
  <a:themeElements>
    <a:clrScheme name="Custom 1">
      <a:dk1>
        <a:srgbClr val="000000"/>
      </a:dk1>
      <a:lt1>
        <a:srgbClr val="FFFFFF"/>
      </a:lt1>
      <a:dk2>
        <a:srgbClr val="1F2123"/>
      </a:dk2>
      <a:lt2>
        <a:srgbClr val="DC9E1F"/>
      </a:lt2>
      <a:accent1>
        <a:srgbClr val="7E97AD"/>
      </a:accent1>
      <a:accent2>
        <a:srgbClr val="CC8E60"/>
      </a:accent2>
      <a:accent3>
        <a:srgbClr val="7A6A60"/>
      </a:accent3>
      <a:accent4>
        <a:srgbClr val="B4936D"/>
      </a:accent4>
      <a:accent5>
        <a:srgbClr val="67787B"/>
      </a:accent5>
      <a:accent6>
        <a:srgbClr val="9D936F"/>
      </a:accent6>
      <a:hlink>
        <a:srgbClr val="00B0F0"/>
      </a:hlink>
      <a:folHlink>
        <a:srgbClr val="969696"/>
      </a:folHlink>
    </a:clrScheme>
    <a:fontScheme name="Ufuk">
      <a:maj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Ufuk">
      <a:fillStyleLst>
        <a:solidFill>
          <a:schemeClr val="phClr"/>
        </a:solidFill>
        <a:gradFill rotWithShape="1">
          <a:gsLst>
            <a:gs pos="0">
              <a:schemeClr val="phClr">
                <a:tint val="83000"/>
                <a:shade val="100000"/>
                <a:satMod val="100000"/>
              </a:schemeClr>
            </a:gs>
            <a:gs pos="100000">
              <a:schemeClr val="phClr">
                <a:tint val="61000"/>
                <a:alpha val="100000"/>
                <a:satMod val="200000"/>
              </a:schemeClr>
            </a:gs>
          </a:gsLst>
          <a:path path="circle">
            <a:fillToRect l="100000" t="100000" r="100000" b="100000"/>
          </a:path>
        </a:gradFill>
        <a:gradFill rotWithShape="1">
          <a:gsLst>
            <a:gs pos="0">
              <a:schemeClr val="phClr">
                <a:shade val="85000"/>
              </a:schemeClr>
            </a:gs>
            <a:gs pos="100000">
              <a:schemeClr val="phClr">
                <a:tint val="90000"/>
                <a:alpha val="100000"/>
                <a:satMod val="20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2924" dir="5400000" rotWithShape="0">
              <a:srgbClr val="000000">
                <a:alpha val="40000"/>
              </a:srgbClr>
            </a:outerShdw>
          </a:effectLst>
        </a:effectStyle>
        <a:effectStyle>
          <a:effectLst>
            <a:outerShdw blurRad="50800" dist="25400" dir="5400000" rotWithShape="0">
              <a:srgbClr val="000000">
                <a:alpha val="40000"/>
              </a:srgbClr>
            </a:outerShdw>
          </a:effectLst>
          <a:scene3d>
            <a:camera prst="orthographicFront">
              <a:rot lat="0" lon="0" rev="0"/>
            </a:camera>
            <a:lightRig rig="flat" dir="t">
              <a:rot lat="0" lon="0" rev="3600000"/>
            </a:lightRig>
          </a:scene3d>
          <a:sp3d prstMaterial="flat">
            <a:bevelT w="34925" h="47625" prst="coolSlant"/>
          </a:sp3d>
        </a:effectStyle>
      </a:effectStyleLst>
      <a:bgFillStyleLst>
        <a:solidFill>
          <a:schemeClr val="phClr"/>
        </a:solidFill>
        <a:gradFill rotWithShape="1">
          <a:gsLst>
            <a:gs pos="0">
              <a:schemeClr val="phClr">
                <a:tint val="96000"/>
                <a:shade val="100000"/>
                <a:alpha val="100000"/>
                <a:satMod val="140000"/>
              </a:schemeClr>
            </a:gs>
            <a:gs pos="31000">
              <a:schemeClr val="phClr">
                <a:tint val="100000"/>
                <a:shade val="90000"/>
                <a:alpha val="100000"/>
              </a:schemeClr>
            </a:gs>
            <a:gs pos="100000">
              <a:schemeClr val="phClr">
                <a:tint val="100000"/>
                <a:shade val="80000"/>
                <a:alpha val="100000"/>
              </a:schemeClr>
            </a:gs>
          </a:gsLst>
          <a:lin ang="5400000" scaled="0"/>
        </a:gradFill>
        <a:gradFill rotWithShape="1">
          <a:gsLst>
            <a:gs pos="0">
              <a:schemeClr val="phClr">
                <a:tint val="96000"/>
                <a:shade val="100000"/>
                <a:alpha val="100000"/>
                <a:satMod val="180000"/>
              </a:schemeClr>
            </a:gs>
            <a:gs pos="41000">
              <a:schemeClr val="phClr">
                <a:tint val="100000"/>
                <a:shade val="100000"/>
                <a:alpha val="100000"/>
                <a:satMod val="150000"/>
              </a:schemeClr>
            </a:gs>
            <a:gs pos="100000">
              <a:schemeClr val="phClr">
                <a:tint val="100000"/>
                <a:shade val="65000"/>
                <a:alpha val="100000"/>
              </a:schemeClr>
            </a:gs>
          </a:gsLst>
          <a:path path="circle">
            <a:fillToRect l="50000" t="80000" r="100000" b="10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1398</TotalTime>
  <Words>824</Words>
  <Application>Microsoft Office PowerPoint</Application>
  <PresentationFormat>On-screen Show (4:3)</PresentationFormat>
  <Paragraphs>72</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Arial Narrow</vt:lpstr>
      <vt:lpstr>Consolas</vt:lpstr>
      <vt:lpstr>Sitka Text Semibold</vt:lpstr>
      <vt:lpstr>Times New Roman</vt:lpstr>
      <vt:lpstr>Wingdings</vt:lpstr>
      <vt:lpstr>Ufuk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Polarbear</dc:creator>
  <cp:lastModifiedBy>PolarBear</cp:lastModifiedBy>
  <cp:revision>97</cp:revision>
  <dcterms:created xsi:type="dcterms:W3CDTF">2025-12-07T16:51:37Z</dcterms:created>
  <dcterms:modified xsi:type="dcterms:W3CDTF">2026-05-26T03:33:00Z</dcterms:modified>
</cp:coreProperties>
</file>