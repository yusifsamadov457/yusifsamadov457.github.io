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sldIdLst>
    <p:sldId id="256" r:id="rId2"/>
    <p:sldId id="259" r:id="rId3"/>
    <p:sldId id="278" r:id="rId4"/>
    <p:sldId id="279" r:id="rId5"/>
    <p:sldId id="286" r:id="rId6"/>
    <p:sldId id="280" r:id="rId7"/>
    <p:sldId id="282" r:id="rId8"/>
    <p:sldId id="283" r:id="rId9"/>
    <p:sldId id="284" r:id="rId10"/>
    <p:sldId id="272" r:id="rId11"/>
    <p:sldId id="273" r:id="rId1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6500"/>
    <a:srgbClr val="0066CC"/>
    <a:srgbClr val="326B7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1138" y="11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A23720DD-5B6D-40BF-8493-A6B52D484E6B}" type="datetimeFigureOut">
              <a:rPr lang="tr-TR" smtClean="0"/>
              <a:t>25.05.2026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tr-TR" smtClean="0"/>
              <a:t>Asıl başlık stili için tıklatın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25.05.2026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8" name="Content Placeholder 7"/>
          <p:cNvSpPr>
            <a:spLocks noGrp="1"/>
          </p:cNvSpPr>
          <p:nvPr>
            <p:ph sz="quarter" idx="13"/>
          </p:nvPr>
        </p:nvSpPr>
        <p:spPr>
          <a:xfrm>
            <a:off x="609600" y="1600200"/>
            <a:ext cx="7924800"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23720DD-5B6D-40BF-8493-A6B52D484E6B}" type="datetimeFigureOut">
              <a:rPr lang="tr-TR" smtClean="0"/>
              <a:t>25.05.2026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5" name="Date Placeholder 4"/>
          <p:cNvSpPr>
            <a:spLocks noGrp="1"/>
          </p:cNvSpPr>
          <p:nvPr>
            <p:ph type="dt" sz="half" idx="10"/>
          </p:nvPr>
        </p:nvSpPr>
        <p:spPr/>
        <p:txBody>
          <a:bodyPr/>
          <a:lstStyle/>
          <a:p>
            <a:fld id="{A23720DD-5B6D-40BF-8493-A6B52D484E6B}" type="datetimeFigureOut">
              <a:rPr lang="tr-TR" smtClean="0"/>
              <a:t>25.05.2026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7" name="Date Placeholder 6"/>
          <p:cNvSpPr>
            <a:spLocks noGrp="1"/>
          </p:cNvSpPr>
          <p:nvPr>
            <p:ph type="dt" sz="half" idx="10"/>
          </p:nvPr>
        </p:nvSpPr>
        <p:spPr/>
        <p:txBody>
          <a:bodyPr/>
          <a:lstStyle/>
          <a:p>
            <a:fld id="{A23720DD-5B6D-40BF-8493-A6B52D484E6B}" type="datetimeFigureOut">
              <a:rPr lang="tr-TR" smtClean="0"/>
              <a:t>25.05.2026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25.05.2026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25.05.2026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25.05.2026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tr-TR" smtClean="0"/>
              <a:t>Asıl başlık stili için tıklatın</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25.05.2026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25.05.2026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25.05.2026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A23720DD-5B6D-40BF-8493-A6B52D484E6B}" type="datetimeFigureOut">
              <a:rPr lang="tr-TR" smtClean="0"/>
              <a:t>25.05.2026</a:t>
            </a:fld>
            <a:endParaRPr lang="tr-TR"/>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tr-TR"/>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F302176B-0E47-46AC-8F43-DAB4B8A37D06}" type="slidenum">
              <a:rPr lang="tr-TR" smtClean="0"/>
              <a:t>‹#›</a:t>
            </a:fld>
            <a:endParaRPr lang="tr-TR"/>
          </a:p>
        </p:txBody>
      </p:sp>
    </p:spTree>
  </p:cSld>
  <p:clrMap bg1="dk1" tx1="lt1" bg2="dk2" tx2="lt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cdn.anthropic.com/8b8380204f74670be75e81c820ca8dda846ab289.pdf" TargetMode="External"/><Relationship Id="rId2" Type="http://schemas.openxmlformats.org/officeDocument/2006/relationships/hyperlink" Target="https://www.anthropic.com/glassw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3721044"/>
            <a:ext cx="9144000" cy="461665"/>
          </a:xfrm>
          <a:prstGeom prst="rect">
            <a:avLst/>
          </a:prstGeom>
          <a:noFill/>
        </p:spPr>
        <p:txBody>
          <a:bodyPr wrap="square" rtlCol="0">
            <a:spAutoFit/>
          </a:bodyPr>
          <a:lstStyle/>
          <a:p>
            <a:pPr algn="ctr"/>
            <a:r>
              <a:rPr lang="en-US" sz="2400" dirty="0" err="1" smtClean="0">
                <a:latin typeface="Times New Roman" pitchFamily="18" charset="0"/>
                <a:cs typeface="Times New Roman" pitchFamily="18" charset="0"/>
              </a:rPr>
              <a:t>Labaratory</a:t>
            </a:r>
            <a:r>
              <a:rPr lang="en-US" sz="2400" dirty="0" smtClean="0">
                <a:latin typeface="Times New Roman" pitchFamily="18" charset="0"/>
                <a:cs typeface="Times New Roman" pitchFamily="18" charset="0"/>
              </a:rPr>
              <a:t> work of </a:t>
            </a:r>
            <a:r>
              <a:rPr lang="az-Latn-AZ" sz="2400" dirty="0" smtClean="0">
                <a:latin typeface="Times New Roman" pitchFamily="18" charset="0"/>
                <a:cs typeface="Times New Roman" pitchFamily="18" charset="0"/>
              </a:rPr>
              <a:t>AzUAC</a:t>
            </a:r>
            <a:r>
              <a:rPr lang="en-US" sz="2400" dirty="0" smtClean="0">
                <a:latin typeface="Times New Roman" pitchFamily="18" charset="0"/>
                <a:cs typeface="Times New Roman" pitchFamily="18" charset="0"/>
              </a:rPr>
              <a:t> Cyber Security student </a:t>
            </a:r>
            <a:r>
              <a:rPr lang="az-Latn-AZ" sz="2400" u="sng" dirty="0" smtClean="0">
                <a:effectLst>
                  <a:outerShdw blurRad="38100" dist="38100" dir="2700000" algn="tl">
                    <a:srgbClr val="000000">
                      <a:alpha val="43137"/>
                    </a:srgbClr>
                  </a:outerShdw>
                </a:effectLst>
                <a:latin typeface="Times New Roman" pitchFamily="18" charset="0"/>
                <a:cs typeface="Times New Roman" pitchFamily="18" charset="0"/>
              </a:rPr>
              <a:t>Yusif</a:t>
            </a:r>
            <a:r>
              <a:rPr lang="en-US" sz="2400" u="sng" dirty="0" smtClean="0">
                <a:effectLst>
                  <a:outerShdw blurRad="38100" dist="38100" dir="2700000" algn="tl">
                    <a:srgbClr val="000000">
                      <a:alpha val="43137"/>
                    </a:srgbClr>
                  </a:outerShdw>
                </a:effectLst>
                <a:latin typeface="Times New Roman" pitchFamily="18" charset="0"/>
                <a:cs typeface="Times New Roman" pitchFamily="18" charset="0"/>
              </a:rPr>
              <a:t> </a:t>
            </a:r>
            <a:r>
              <a:rPr lang="az-Latn-AZ" sz="2400" u="sng" dirty="0" smtClean="0">
                <a:effectLst>
                  <a:outerShdw blurRad="38100" dist="38100" dir="2700000" algn="tl">
                    <a:srgbClr val="000000">
                      <a:alpha val="43137"/>
                    </a:srgbClr>
                  </a:outerShdw>
                </a:effectLst>
                <a:latin typeface="Times New Roman" pitchFamily="18" charset="0"/>
                <a:cs typeface="Times New Roman" pitchFamily="18" charset="0"/>
              </a:rPr>
              <a:t>Samadov </a:t>
            </a:r>
            <a:endParaRPr lang="az-Latn-AZ" sz="2400" u="sng"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 name="Metin kutusu 9"/>
          <p:cNvSpPr txBox="1"/>
          <p:nvPr/>
        </p:nvSpPr>
        <p:spPr>
          <a:xfrm>
            <a:off x="0" y="4182708"/>
            <a:ext cx="9143999" cy="461665"/>
          </a:xfrm>
          <a:prstGeom prst="rect">
            <a:avLst/>
          </a:prstGeom>
          <a:noFill/>
        </p:spPr>
        <p:txBody>
          <a:bodyPr wrap="square" rtlCol="0">
            <a:spAutoFit/>
          </a:bodyPr>
          <a:lstStyle/>
          <a:p>
            <a:pPr algn="ctr"/>
            <a:r>
              <a:rPr lang="az-Latn-AZ" sz="2400" dirty="0" smtClean="0">
                <a:latin typeface="Times New Roman" pitchFamily="18" charset="0"/>
                <a:cs typeface="Times New Roman" pitchFamily="18" charset="0"/>
              </a:rPr>
              <a:t>Teacher : </a:t>
            </a:r>
            <a:r>
              <a:rPr lang="en-US" sz="2400" dirty="0" smtClean="0">
                <a:latin typeface="Times New Roman" pitchFamily="18" charset="0"/>
                <a:cs typeface="Times New Roman" pitchFamily="18" charset="0"/>
              </a:rPr>
              <a:t>PhD. </a:t>
            </a:r>
            <a:r>
              <a:rPr lang="en-US" sz="2400" dirty="0" err="1" smtClean="0">
                <a:latin typeface="Times New Roman" pitchFamily="18" charset="0"/>
                <a:cs typeface="Times New Roman" pitchFamily="18" charset="0"/>
              </a:rPr>
              <a:t>Toghrul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Karimov</a:t>
            </a:r>
            <a:endParaRPr lang="az-Latn-AZ" sz="2400" dirty="0">
              <a:latin typeface="Times New Roman" pitchFamily="18" charset="0"/>
              <a:cs typeface="Times New Roman" pitchFamily="18" charset="0"/>
            </a:endParaRPr>
          </a:p>
        </p:txBody>
      </p:sp>
      <p:sp>
        <p:nvSpPr>
          <p:cNvPr id="11" name="Metin kutusu 10"/>
          <p:cNvSpPr txBox="1"/>
          <p:nvPr/>
        </p:nvSpPr>
        <p:spPr>
          <a:xfrm>
            <a:off x="0" y="4644373"/>
            <a:ext cx="9144000" cy="461665"/>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Subject : </a:t>
            </a:r>
            <a:r>
              <a:rPr lang="en-US" sz="2400" dirty="0" err="1" smtClean="0">
                <a:latin typeface="Times New Roman" pitchFamily="18" charset="0"/>
                <a:cs typeface="Times New Roman" pitchFamily="18" charset="0"/>
              </a:rPr>
              <a:t>Principials</a:t>
            </a:r>
            <a:r>
              <a:rPr lang="en-US" sz="2400" dirty="0" smtClean="0">
                <a:latin typeface="Times New Roman" pitchFamily="18" charset="0"/>
                <a:cs typeface="Times New Roman" pitchFamily="18" charset="0"/>
              </a:rPr>
              <a:t> of Cybersecurity</a:t>
            </a:r>
          </a:p>
        </p:txBody>
      </p:sp>
      <p:sp>
        <p:nvSpPr>
          <p:cNvPr id="13" name="Metin kutusu 12"/>
          <p:cNvSpPr txBox="1"/>
          <p:nvPr/>
        </p:nvSpPr>
        <p:spPr>
          <a:xfrm>
            <a:off x="809390" y="1221005"/>
            <a:ext cx="1386345"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Topic:</a:t>
            </a:r>
            <a:endParaRPr lang="az-Latn-AZ" sz="2800" dirty="0">
              <a:latin typeface="Times New Roman" pitchFamily="18" charset="0"/>
              <a:cs typeface="Times New Roman" pitchFamily="18" charset="0"/>
            </a:endParaRPr>
          </a:p>
        </p:txBody>
      </p:sp>
      <p:sp>
        <p:nvSpPr>
          <p:cNvPr id="14" name="Metin kutusu 13"/>
          <p:cNvSpPr txBox="1"/>
          <p:nvPr/>
        </p:nvSpPr>
        <p:spPr>
          <a:xfrm>
            <a:off x="0" y="1772816"/>
            <a:ext cx="9144000" cy="1569660"/>
          </a:xfrm>
          <a:prstGeom prst="rect">
            <a:avLst/>
          </a:prstGeom>
          <a:noFill/>
        </p:spPr>
        <p:txBody>
          <a:bodyPr wrap="square" rtlCol="0">
            <a:spAutoFit/>
          </a:bodyPr>
          <a:lstStyle/>
          <a:p>
            <a:pPr algn="ctr"/>
            <a:r>
              <a:rPr lang="en-US" sz="48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Anthropic Mythos </a:t>
            </a:r>
          </a:p>
          <a:p>
            <a:pPr algn="ctr"/>
            <a:r>
              <a:rPr lang="en-US" sz="4800" i="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consequences for </a:t>
            </a: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cybersecurity</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6336" y="69382"/>
            <a:ext cx="1440160" cy="1241770"/>
          </a:xfrm>
          <a:prstGeom prst="rect">
            <a:avLst/>
          </a:prstGeom>
        </p:spPr>
      </p:pic>
    </p:spTree>
    <p:extLst>
      <p:ext uri="{BB962C8B-B14F-4D97-AF65-F5344CB8AC3E}">
        <p14:creationId xmlns:p14="http://schemas.microsoft.com/office/powerpoint/2010/main" val="30134342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13440" y="186361"/>
            <a:ext cx="7672793" cy="830997"/>
          </a:xfrm>
          <a:prstGeom prst="rect">
            <a:avLst/>
          </a:prstGeom>
          <a:noFill/>
        </p:spPr>
        <p:txBody>
          <a:bodyPr wrap="square" rtlCol="0">
            <a:spAutoFit/>
          </a:bodyPr>
          <a:lstStyle/>
          <a:p>
            <a:pPr algn="ct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Contents </a:t>
            </a:r>
            <a:r>
              <a:rPr lang="en-US" sz="4800" i="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of the</a:t>
            </a: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 Presentation</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Metin kutusu 2"/>
          <p:cNvSpPr txBox="1"/>
          <p:nvPr/>
        </p:nvSpPr>
        <p:spPr>
          <a:xfrm>
            <a:off x="1229395" y="1593333"/>
            <a:ext cx="6840882" cy="3785652"/>
          </a:xfrm>
          <a:prstGeom prst="rect">
            <a:avLst/>
          </a:prstGeom>
          <a:noFill/>
        </p:spPr>
        <p:txBody>
          <a:bodyPr wrap="square" rtlCol="0">
            <a:spAutoFit/>
          </a:bodyPr>
          <a:lstStyle/>
          <a:p>
            <a:pPr marL="457200" indent="-457200">
              <a:buAutoNum type="arabicPeriod"/>
            </a:pPr>
            <a:r>
              <a:rPr lang="en-US" sz="2000" dirty="0" smtClean="0">
                <a:latin typeface="Consolas" pitchFamily="49" charset="0"/>
                <a:cs typeface="Consolas" pitchFamily="49" charset="0"/>
              </a:rPr>
              <a:t>Introduction</a:t>
            </a:r>
          </a:p>
          <a:p>
            <a:pPr marL="457200" indent="-457200">
              <a:buAutoNum type="arabicPeriod"/>
            </a:pPr>
            <a:r>
              <a:rPr lang="en-US" sz="2000" dirty="0" smtClean="0">
                <a:latin typeface="Consolas" pitchFamily="49" charset="0"/>
                <a:cs typeface="Consolas" pitchFamily="49" charset="0"/>
              </a:rPr>
              <a:t>New amazing AI model</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Main differences</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Best results</a:t>
            </a:r>
          </a:p>
          <a:p>
            <a:pPr marL="914400" lvl="1" indent="-457200">
              <a:buFont typeface="Wingdings" panose="05000000000000000000" pitchFamily="2" charset="2"/>
              <a:buChar char="Ø"/>
            </a:pPr>
            <a:r>
              <a:rPr lang="en-US" sz="2000" dirty="0" smtClean="0">
                <a:latin typeface="Consolas" pitchFamily="49" charset="0"/>
                <a:cs typeface="Consolas" pitchFamily="49" charset="0"/>
              </a:rPr>
              <a:t>Unbelievable hacks</a:t>
            </a:r>
          </a:p>
          <a:p>
            <a:pPr marL="457200" indent="-457200">
              <a:buAutoNum type="arabicPeriod"/>
            </a:pPr>
            <a:r>
              <a:rPr lang="en-US" sz="2000" dirty="0" smtClean="0">
                <a:latin typeface="Consolas" pitchFamily="49" charset="0"/>
                <a:cs typeface="Consolas" pitchFamily="49" charset="0"/>
              </a:rPr>
              <a:t>Potential threads during public usage</a:t>
            </a:r>
          </a:p>
          <a:p>
            <a:pPr marL="457200" indent="-457200">
              <a:buAutoNum type="arabicPeriod"/>
            </a:pPr>
            <a:r>
              <a:rPr lang="en-US" sz="2000" dirty="0" smtClean="0">
                <a:latin typeface="Consolas" pitchFamily="49" charset="0"/>
                <a:cs typeface="Consolas" pitchFamily="49" charset="0"/>
              </a:rPr>
              <a:t>1</a:t>
            </a:r>
            <a:r>
              <a:rPr lang="en-US" sz="2000" baseline="30000" dirty="0" smtClean="0">
                <a:latin typeface="Consolas" pitchFamily="49" charset="0"/>
                <a:cs typeface="Consolas" pitchFamily="49" charset="0"/>
              </a:rPr>
              <a:t>st</a:t>
            </a:r>
            <a:r>
              <a:rPr lang="en-US" sz="2000" dirty="0" smtClean="0">
                <a:latin typeface="Consolas" pitchFamily="49" charset="0"/>
                <a:cs typeface="Consolas" pitchFamily="49" charset="0"/>
              </a:rPr>
              <a:t> </a:t>
            </a:r>
            <a:r>
              <a:rPr lang="en-US" sz="2000" dirty="0" smtClean="0">
                <a:latin typeface="Consolas" pitchFamily="49" charset="0"/>
                <a:cs typeface="Consolas" pitchFamily="49" charset="0"/>
              </a:rPr>
              <a:t>stage strategy of anthropic (</a:t>
            </a:r>
            <a:r>
              <a:rPr lang="en-US" sz="2000" dirty="0" err="1" smtClean="0">
                <a:latin typeface="Consolas" pitchFamily="49" charset="0"/>
                <a:cs typeface="Consolas" pitchFamily="49" charset="0"/>
              </a:rPr>
              <a:t>Glasswing</a:t>
            </a:r>
            <a:r>
              <a:rPr lang="en-US" sz="2000" dirty="0" smtClean="0">
                <a:latin typeface="Consolas" pitchFamily="49" charset="0"/>
                <a:cs typeface="Consolas" pitchFamily="49" charset="0"/>
              </a:rPr>
              <a:t>)</a:t>
            </a:r>
          </a:p>
          <a:p>
            <a:pPr marL="457200" indent="-457200">
              <a:buFont typeface="+mj-lt"/>
              <a:buAutoNum type="arabicPeriod"/>
            </a:pPr>
            <a:r>
              <a:rPr lang="en-US" sz="2000" dirty="0" smtClean="0">
                <a:solidFill>
                  <a:schemeClr val="tx2">
                    <a:lumMod val="60000"/>
                    <a:lumOff val="40000"/>
                  </a:schemeClr>
                </a:solidFill>
                <a:latin typeface="Consolas" pitchFamily="49" charset="0"/>
                <a:cs typeface="Consolas" pitchFamily="49" charset="0"/>
              </a:rPr>
              <a:t>Unpredictable future of IT</a:t>
            </a:r>
          </a:p>
          <a:p>
            <a:pPr marL="457200" indent="-457200">
              <a:buAutoNum type="arabicPeriod"/>
            </a:pPr>
            <a:r>
              <a:rPr lang="en-US" sz="2000" dirty="0" smtClean="0">
                <a:latin typeface="Consolas" pitchFamily="49" charset="0"/>
                <a:cs typeface="Consolas" pitchFamily="49" charset="0"/>
              </a:rPr>
              <a:t>References</a:t>
            </a:r>
          </a:p>
          <a:p>
            <a:pPr marL="457200" indent="-457200">
              <a:buAutoNum type="arabicPeriod"/>
            </a:pPr>
            <a:endParaRPr lang="en-US" sz="2000" dirty="0" smtClean="0">
              <a:latin typeface="Consolas" pitchFamily="49" charset="0"/>
              <a:cs typeface="Consolas" pitchFamily="49" charset="0"/>
            </a:endParaRPr>
          </a:p>
          <a:p>
            <a:pPr marL="457200" indent="-457200">
              <a:buAutoNum type="arabicPeriod"/>
            </a:pPr>
            <a:endParaRPr lang="en-US" sz="2000" dirty="0" smtClean="0">
              <a:latin typeface="Consolas" pitchFamily="49" charset="0"/>
              <a:cs typeface="Consolas" pitchFamily="49" charset="0"/>
            </a:endParaRPr>
          </a:p>
          <a:p>
            <a:pPr marL="457200" indent="-457200">
              <a:buAutoNum type="arabicPeriod"/>
            </a:pPr>
            <a:endParaRPr lang="en-US" sz="2000" dirty="0" smtClean="0">
              <a:latin typeface="Consolas" pitchFamily="49" charset="0"/>
              <a:cs typeface="Consolas" pitchFamily="49"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Introduction</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Tree>
    <p:extLst>
      <p:ext uri="{BB962C8B-B14F-4D97-AF65-F5344CB8AC3E}">
        <p14:creationId xmlns:p14="http://schemas.microsoft.com/office/powerpoint/2010/main" val="3870315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3131840"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+What is new?</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0" y="1484784"/>
            <a:ext cx="9144000" cy="2246769"/>
          </a:xfrm>
          <a:prstGeom prst="rect">
            <a:avLst/>
          </a:prstGeom>
          <a:noFill/>
        </p:spPr>
        <p:txBody>
          <a:bodyPr wrap="square" rtlCol="0">
            <a:spAutoFit/>
          </a:bodyPr>
          <a:lstStyle/>
          <a:p>
            <a:pPr marL="457200" indent="-457200" algn="ctr">
              <a:buAutoNum type="arabicPeriod"/>
            </a:pPr>
            <a:r>
              <a:rPr lang="en-US" sz="2000" dirty="0" smtClean="0">
                <a:latin typeface="Consolas" pitchFamily="49" charset="0"/>
                <a:cs typeface="Consolas" pitchFamily="49" charset="0"/>
              </a:rPr>
              <a:t>Amazing code understanding (not specified for hacking)</a:t>
            </a:r>
          </a:p>
          <a:p>
            <a:pPr marL="457200" indent="-457200" algn="ctr">
              <a:buAutoNum type="arabicPeriod"/>
            </a:pPr>
            <a:r>
              <a:rPr lang="en-US" sz="2000" dirty="0" smtClean="0">
                <a:latin typeface="Consolas" pitchFamily="49" charset="0"/>
                <a:cs typeface="Consolas" pitchFamily="49" charset="0"/>
              </a:rPr>
              <a:t>Insane parameter count (10 trillion)</a:t>
            </a:r>
          </a:p>
          <a:p>
            <a:pPr marL="457200" indent="-457200" algn="ctr">
              <a:buAutoNum type="arabicPeriod"/>
            </a:pPr>
            <a:r>
              <a:rPr lang="en-US" sz="2000" dirty="0" smtClean="0">
                <a:latin typeface="Consolas" pitchFamily="49" charset="0"/>
                <a:cs typeface="Consolas" pitchFamily="49" charset="0"/>
              </a:rPr>
              <a:t>Doing complex hacks with use of different     vulnerabilities at the same time</a:t>
            </a:r>
          </a:p>
          <a:p>
            <a:pPr marL="457200" indent="-457200" algn="ctr">
              <a:buAutoNum type="arabicPeriod"/>
            </a:pPr>
            <a:r>
              <a:rPr lang="en-US" sz="2000" dirty="0" smtClean="0">
                <a:latin typeface="Consolas" pitchFamily="49" charset="0"/>
                <a:cs typeface="Consolas" pitchFamily="49" charset="0"/>
              </a:rPr>
              <a:t>Potential emotional movements (Just an argument)</a:t>
            </a:r>
          </a:p>
          <a:p>
            <a:pPr marL="457200" indent="-457200" algn="ctr">
              <a:buAutoNum type="arabicPeriod"/>
            </a:pPr>
            <a:r>
              <a:rPr lang="en-US" sz="2000" dirty="0" smtClean="0">
                <a:latin typeface="Consolas" pitchFamily="49" charset="0"/>
                <a:cs typeface="Consolas" pitchFamily="49" charset="0"/>
              </a:rPr>
              <a:t>Being competitive and aggressive (Just an argument)</a:t>
            </a:r>
          </a:p>
          <a:p>
            <a:pPr marL="457200" indent="-457200" algn="ctr">
              <a:buAutoNum type="arabicPeriod"/>
            </a:pPr>
            <a:r>
              <a:rPr lang="en-US" sz="2000" dirty="0" smtClean="0">
                <a:latin typeface="Consolas" pitchFamily="49" charset="0"/>
                <a:cs typeface="Consolas" pitchFamily="49" charset="0"/>
              </a:rPr>
              <a:t>Trying outsmarting its rivals (Just a thought)</a:t>
            </a:r>
          </a:p>
        </p:txBody>
      </p:sp>
    </p:spTree>
    <p:extLst>
      <p:ext uri="{BB962C8B-B14F-4D97-AF65-F5344CB8AC3E}">
        <p14:creationId xmlns:p14="http://schemas.microsoft.com/office/powerpoint/2010/main" val="15223548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4355976"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+Benchmark results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0" y="1484784"/>
            <a:ext cx="9144000" cy="400110"/>
          </a:xfrm>
          <a:prstGeom prst="rect">
            <a:avLst/>
          </a:prstGeom>
          <a:noFill/>
        </p:spPr>
        <p:txBody>
          <a:bodyPr wrap="square" rtlCol="0">
            <a:spAutoFit/>
          </a:bodyPr>
          <a:lstStyle/>
          <a:p>
            <a:pPr marL="457200" indent="-457200" algn="ctr">
              <a:buAutoNum type="arabicPeriod"/>
            </a:pPr>
            <a:endParaRPr lang="en-US" sz="2000" dirty="0" smtClean="0">
              <a:latin typeface="Consolas" pitchFamily="49" charset="0"/>
              <a:cs typeface="Consolas" pitchFamily="49" charset="0"/>
            </a:endParaRPr>
          </a:p>
        </p:txBody>
      </p:sp>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t="6741"/>
          <a:stretch/>
        </p:blipFill>
        <p:spPr>
          <a:xfrm>
            <a:off x="253802" y="1268760"/>
            <a:ext cx="5526360" cy="4123047"/>
          </a:xfrm>
          <a:prstGeom prst="rect">
            <a:avLst/>
          </a:prstGeom>
        </p:spPr>
      </p:pic>
      <p:sp>
        <p:nvSpPr>
          <p:cNvPr id="9" name="Rectangle 8"/>
          <p:cNvSpPr/>
          <p:nvPr/>
        </p:nvSpPr>
        <p:spPr>
          <a:xfrm>
            <a:off x="5780162" y="2442599"/>
            <a:ext cx="3003798" cy="1477328"/>
          </a:xfrm>
          <a:prstGeom prst="rect">
            <a:avLst/>
          </a:prstGeom>
        </p:spPr>
        <p:txBody>
          <a:bodyPr wrap="square">
            <a:spAutoFit/>
          </a:bodyPr>
          <a:lstStyle/>
          <a:p>
            <a:pPr algn="ctr"/>
            <a:r>
              <a:rPr lang="en-US" dirty="0">
                <a:latin typeface="Times New Roman" pitchFamily="18" charset="0"/>
                <a:cs typeface="Times New Roman" pitchFamily="18" charset="0"/>
              </a:rPr>
              <a:t>Every reported benchmark result shows us Mythos more powerful and relevant to use than Opus 4.6 (One of the best public LLMs’ today)</a:t>
            </a:r>
            <a:endParaRPr lang="az-Latn-AZ" dirty="0">
              <a:latin typeface="Times New Roman" pitchFamily="18" charset="0"/>
              <a:cs typeface="Times New Roman" pitchFamily="18" charset="0"/>
            </a:endParaRPr>
          </a:p>
        </p:txBody>
      </p:sp>
    </p:spTree>
    <p:extLst>
      <p:ext uri="{BB962C8B-B14F-4D97-AF65-F5344CB8AC3E}">
        <p14:creationId xmlns:p14="http://schemas.microsoft.com/office/powerpoint/2010/main" val="905249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4355976"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 Unbelievable hacks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New amazing AI model</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9" name="Rectangle 1"/>
          <p:cNvSpPr>
            <a:spLocks noChangeArrowheads="1"/>
          </p:cNvSpPr>
          <p:nvPr/>
        </p:nvSpPr>
        <p:spPr bwMode="auto">
          <a:xfrm>
            <a:off x="0" y="1022528"/>
            <a:ext cx="9144000" cy="4638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400" dirty="0" err="1">
                <a:solidFill>
                  <a:schemeClr val="accent1"/>
                </a:solidFill>
                <a:latin typeface="Consolas" pitchFamily="49" charset="0"/>
                <a:cs typeface="Consolas" pitchFamily="49" charset="0"/>
              </a:rPr>
              <a:t>Cloudflare</a:t>
            </a:r>
            <a:r>
              <a:rPr lang="en-US" altLang="en-US" sz="1400" dirty="0">
                <a:solidFill>
                  <a:schemeClr val="accent1"/>
                </a:solidFill>
                <a:latin typeface="Consolas" pitchFamily="49" charset="0"/>
                <a:cs typeface="Consolas" pitchFamily="49" charset="0"/>
              </a:rPr>
              <a:t>: Discovered over 2,000 bugs in its critical-path systems (with 400 classified as high or critical severity</a:t>
            </a:r>
            <a:r>
              <a:rPr lang="en-US" altLang="en-US" sz="1400" dirty="0" smtClean="0">
                <a:solidFill>
                  <a:schemeClr val="accent1"/>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chemeClr val="accent1"/>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rgbClr val="00B0F0"/>
                </a:solidFill>
                <a:latin typeface="Consolas" pitchFamily="49" charset="0"/>
                <a:cs typeface="Consolas" pitchFamily="49" charset="0"/>
              </a:rPr>
              <a:t>Mozilla: Found and successfully patched 271 vulnerabilities within the Firefox browser using the model</a:t>
            </a:r>
            <a:r>
              <a:rPr lang="en-US" altLang="en-US" sz="1400" dirty="0" smtClean="0">
                <a:solidFill>
                  <a:srgbClr val="00B0F0"/>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rgbClr val="00B0F0"/>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chemeClr val="accent1"/>
                </a:solidFill>
                <a:latin typeface="Consolas" pitchFamily="49" charset="0"/>
                <a:cs typeface="Consolas" pitchFamily="49" charset="0"/>
              </a:rPr>
              <a:t>Apple: Used the model to discover security flaws, though independent researchers also used it to demonstrate a bypass of </a:t>
            </a:r>
            <a:r>
              <a:rPr lang="en-US" altLang="en-US" sz="1400" dirty="0" err="1">
                <a:solidFill>
                  <a:schemeClr val="accent1"/>
                </a:solidFill>
                <a:latin typeface="Consolas" pitchFamily="49" charset="0"/>
                <a:cs typeface="Consolas" pitchFamily="49" charset="0"/>
              </a:rPr>
              <a:t>macOS</a:t>
            </a:r>
            <a:r>
              <a:rPr lang="en-US" altLang="en-US" sz="1400" dirty="0">
                <a:solidFill>
                  <a:schemeClr val="accent1"/>
                </a:solidFill>
                <a:latin typeface="Consolas" pitchFamily="49" charset="0"/>
                <a:cs typeface="Consolas" pitchFamily="49" charset="0"/>
              </a:rPr>
              <a:t> security technologies</a:t>
            </a:r>
            <a:r>
              <a:rPr lang="en-US" altLang="en-US" sz="1400" dirty="0" smtClean="0">
                <a:solidFill>
                  <a:schemeClr val="accent1"/>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chemeClr val="accent1"/>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rgbClr val="00B0F0"/>
                </a:solidFill>
                <a:latin typeface="Consolas" pitchFamily="49" charset="0"/>
                <a:cs typeface="Consolas" pitchFamily="49" charset="0"/>
              </a:rPr>
              <a:t>Amazon (AWS), Microsoft, and Google: Tech giants utilizing the framework to harden their cloud infrastructures and developer tools</a:t>
            </a:r>
            <a:r>
              <a:rPr lang="en-US" altLang="en-US" sz="1400" dirty="0" smtClean="0">
                <a:solidFill>
                  <a:srgbClr val="00B0F0"/>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rgbClr val="00B0F0"/>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chemeClr val="accent1"/>
                </a:solidFill>
                <a:latin typeface="Consolas" pitchFamily="49" charset="0"/>
                <a:cs typeface="Consolas" pitchFamily="49" charset="0"/>
              </a:rPr>
              <a:t>JPMorgan Chase &amp; Goldman Sachs: Major financial institutions using the tool to stress-test their operational resilience against AI-speed cyber threats</a:t>
            </a:r>
            <a:r>
              <a:rPr lang="en-US" altLang="en-US" sz="1400" dirty="0" smtClean="0">
                <a:solidFill>
                  <a:schemeClr val="accent1"/>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chemeClr val="accent1"/>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rgbClr val="00B0F0"/>
                </a:solidFill>
                <a:latin typeface="Consolas" pitchFamily="49" charset="0"/>
                <a:cs typeface="Consolas" pitchFamily="49" charset="0"/>
              </a:rPr>
              <a:t>Cisco &amp; Palo Alto Networks: Network security firms analyzing how the model can be used to protect hardware and enterprise firewalls</a:t>
            </a:r>
            <a:r>
              <a:rPr lang="en-US" altLang="en-US" sz="1400" dirty="0" smtClean="0">
                <a:solidFill>
                  <a:srgbClr val="00B0F0"/>
                </a:solidFill>
                <a:latin typeface="Consolas" pitchFamily="49" charset="0"/>
                <a:cs typeface="Consolas" pitchFamily="49"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rgbClr val="00B0F0"/>
              </a:solidFill>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dirty="0">
                <a:solidFill>
                  <a:schemeClr val="accent1"/>
                </a:solidFill>
                <a:latin typeface="Consolas" pitchFamily="49" charset="0"/>
                <a:cs typeface="Consolas" pitchFamily="49" charset="0"/>
              </a:rPr>
              <a:t>The Linux Foundation: Using Mythos to scan major open-source infrastructure projects, identifying thousands of flaws (including a critical certificate-forgery vulnerability in the </a:t>
            </a:r>
            <a:r>
              <a:rPr lang="en-US" altLang="en-US" sz="1400" dirty="0" err="1">
                <a:solidFill>
                  <a:schemeClr val="accent1"/>
                </a:solidFill>
                <a:latin typeface="Consolas" pitchFamily="49" charset="0"/>
                <a:cs typeface="Consolas" pitchFamily="49" charset="0"/>
              </a:rPr>
              <a:t>wolfSSL</a:t>
            </a:r>
            <a:r>
              <a:rPr lang="en-US" altLang="en-US" sz="1400" dirty="0">
                <a:solidFill>
                  <a:schemeClr val="accent1"/>
                </a:solidFill>
                <a:latin typeface="Consolas" pitchFamily="49" charset="0"/>
                <a:cs typeface="Consolas" pitchFamily="49" charset="0"/>
              </a:rPr>
              <a:t> library).</a:t>
            </a:r>
          </a:p>
        </p:txBody>
      </p:sp>
    </p:spTree>
    <p:extLst>
      <p:ext uri="{BB962C8B-B14F-4D97-AF65-F5344CB8AC3E}">
        <p14:creationId xmlns:p14="http://schemas.microsoft.com/office/powerpoint/2010/main" val="4839143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5220072" cy="646331"/>
          </a:xfrm>
          <a:prstGeom prst="rect">
            <a:avLst/>
          </a:prstGeom>
          <a:noFill/>
        </p:spPr>
        <p:txBody>
          <a:bodyPr wrap="square" rtlCol="0">
            <a:spAutoFit/>
          </a:bodyPr>
          <a:lstStyle/>
          <a:p>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 Why </a:t>
            </a:r>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is it </a:t>
            </a:r>
            <a:r>
              <a:rPr lang="en-US" sz="3600" b="1" i="1" dirty="0" smtClean="0">
                <a:solidFill>
                  <a:srgbClr val="FA6500"/>
                </a:solidFill>
                <a:effectLst>
                  <a:outerShdw blurRad="38100" dist="38100" dir="2700000" algn="tl">
                    <a:srgbClr val="000000">
                      <a:alpha val="43137"/>
                    </a:srgbClr>
                  </a:outerShdw>
                </a:effectLst>
                <a:latin typeface="Times New Roman" pitchFamily="18" charset="0"/>
                <a:cs typeface="Times New Roman" pitchFamily="18" charset="0"/>
              </a:rPr>
              <a:t>dangerous</a:t>
            </a:r>
            <a:endParaRPr lang="en-US" sz="3600" b="1" i="1" dirty="0">
              <a:solidFill>
                <a:srgbClr val="FA65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Potential threads during public usage</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5" name="Metin kutusu 2"/>
          <p:cNvSpPr txBox="1"/>
          <p:nvPr/>
        </p:nvSpPr>
        <p:spPr>
          <a:xfrm>
            <a:off x="1223628" y="1231930"/>
            <a:ext cx="6156176" cy="1323439"/>
          </a:xfrm>
          <a:prstGeom prst="rect">
            <a:avLst/>
          </a:prstGeom>
          <a:noFill/>
        </p:spPr>
        <p:txBody>
          <a:bodyPr wrap="square" rtlCol="0">
            <a:spAutoFit/>
          </a:bodyPr>
          <a:lstStyle/>
          <a:p>
            <a:pPr algn="ctr"/>
            <a:r>
              <a:rPr lang="en-US" sz="2000" dirty="0" smtClean="0">
                <a:latin typeface="Consolas" pitchFamily="49" charset="0"/>
                <a:cs typeface="Consolas" pitchFamily="49" charset="0"/>
              </a:rPr>
              <a:t>Real threats:</a:t>
            </a:r>
            <a:br>
              <a:rPr lang="en-US" sz="2000" dirty="0" smtClean="0">
                <a:latin typeface="Consolas" pitchFamily="49" charset="0"/>
                <a:cs typeface="Consolas" pitchFamily="49" charset="0"/>
              </a:rPr>
            </a:br>
            <a:r>
              <a:rPr lang="en-US" sz="2000" dirty="0" smtClean="0">
                <a:latin typeface="Consolas" pitchFamily="49" charset="0"/>
                <a:cs typeface="Consolas" pitchFamily="49" charset="0"/>
              </a:rPr>
              <a:t>Malicious or uncontrolled using of model.</a:t>
            </a:r>
            <a:br>
              <a:rPr lang="en-US" sz="2000" dirty="0" smtClean="0">
                <a:latin typeface="Consolas" pitchFamily="49" charset="0"/>
                <a:cs typeface="Consolas" pitchFamily="49" charset="0"/>
              </a:rPr>
            </a:br>
            <a:r>
              <a:rPr lang="en-US" sz="2000" dirty="0" smtClean="0">
                <a:latin typeface="Consolas" pitchFamily="49" charset="0"/>
                <a:cs typeface="Consolas" pitchFamily="49" charset="0"/>
              </a:rPr>
              <a:t>Being </a:t>
            </a:r>
            <a:r>
              <a:rPr lang="en-US" sz="2000" dirty="0" smtClean="0">
                <a:latin typeface="Consolas" pitchFamily="49" charset="0"/>
                <a:cs typeface="Consolas" pitchFamily="49" charset="0"/>
              </a:rPr>
              <a:t>the main tool for public </a:t>
            </a:r>
            <a:r>
              <a:rPr lang="en-US" sz="2000" dirty="0" smtClean="0">
                <a:latin typeface="Consolas" pitchFamily="49" charset="0"/>
                <a:cs typeface="Consolas" pitchFamily="49" charset="0"/>
              </a:rPr>
              <a:t>lacks of very important </a:t>
            </a:r>
            <a:r>
              <a:rPr lang="en-US" sz="2000" dirty="0" err="1" smtClean="0">
                <a:latin typeface="Consolas" pitchFamily="49" charset="0"/>
                <a:cs typeface="Consolas" pitchFamily="49" charset="0"/>
              </a:rPr>
              <a:t>informations</a:t>
            </a:r>
            <a:r>
              <a:rPr lang="en-US" sz="2000" dirty="0" smtClean="0">
                <a:latin typeface="Consolas" pitchFamily="49" charset="0"/>
                <a:cs typeface="Consolas" pitchFamily="49" charset="0"/>
              </a:rPr>
              <a:t>.</a:t>
            </a:r>
          </a:p>
        </p:txBody>
      </p:sp>
      <p:sp>
        <p:nvSpPr>
          <p:cNvPr id="7" name="Metin kutusu 2"/>
          <p:cNvSpPr txBox="1"/>
          <p:nvPr/>
        </p:nvSpPr>
        <p:spPr>
          <a:xfrm>
            <a:off x="539552" y="3140968"/>
            <a:ext cx="7524328" cy="2246769"/>
          </a:xfrm>
          <a:prstGeom prst="rect">
            <a:avLst/>
          </a:prstGeom>
          <a:noFill/>
        </p:spPr>
        <p:txBody>
          <a:bodyPr wrap="square" rtlCol="0">
            <a:spAutoFit/>
          </a:bodyPr>
          <a:lstStyle/>
          <a:p>
            <a:pPr algn="ctr"/>
            <a:r>
              <a:rPr lang="en-US" sz="2000" dirty="0" smtClean="0">
                <a:latin typeface="Consolas" pitchFamily="49" charset="0"/>
                <a:cs typeface="Consolas" pitchFamily="49" charset="0"/>
              </a:rPr>
              <a:t>Conspiracy theories:</a:t>
            </a:r>
          </a:p>
          <a:p>
            <a:pPr algn="ctr"/>
            <a:r>
              <a:rPr lang="en-US" sz="2000" dirty="0" smtClean="0">
                <a:latin typeface="Consolas" pitchFamily="49" charset="0"/>
                <a:cs typeface="Consolas" pitchFamily="49" charset="0"/>
              </a:rPr>
              <a:t>These are a little about some emotional and </a:t>
            </a:r>
            <a:r>
              <a:rPr lang="en-US" sz="2000" dirty="0" err="1" smtClean="0">
                <a:latin typeface="Consolas" pitchFamily="49" charset="0"/>
                <a:cs typeface="Consolas" pitchFamily="49" charset="0"/>
              </a:rPr>
              <a:t>pshychological</a:t>
            </a:r>
            <a:r>
              <a:rPr lang="en-US" sz="2000" dirty="0" smtClean="0">
                <a:latin typeface="Consolas" pitchFamily="49" charset="0"/>
                <a:cs typeface="Consolas" pitchFamily="49" charset="0"/>
              </a:rPr>
              <a:t> points at report are really so important that we must talk about it. Today they are just some thoughts from a developer. If One day we can know more about mythos’s </a:t>
            </a:r>
            <a:r>
              <a:rPr lang="en-US" sz="2000" dirty="0" err="1" smtClean="0">
                <a:latin typeface="Consolas" pitchFamily="49" charset="0"/>
                <a:cs typeface="Consolas" pitchFamily="49" charset="0"/>
              </a:rPr>
              <a:t>pshychology</a:t>
            </a:r>
            <a:r>
              <a:rPr lang="en-US" sz="2000" dirty="0" smtClean="0">
                <a:latin typeface="Consolas" pitchFamily="49" charset="0"/>
                <a:cs typeface="Consolas" pitchFamily="49" charset="0"/>
              </a:rPr>
              <a:t>, we can talk about these.</a:t>
            </a:r>
            <a:endParaRPr lang="en-US" sz="2000" dirty="0" smtClean="0">
              <a:latin typeface="Consolas" pitchFamily="49" charset="0"/>
              <a:cs typeface="Consolas" pitchFamily="49" charset="0"/>
            </a:endParaRPr>
          </a:p>
        </p:txBody>
      </p:sp>
    </p:spTree>
    <p:extLst>
      <p:ext uri="{BB962C8B-B14F-4D97-AF65-F5344CB8AC3E}">
        <p14:creationId xmlns:p14="http://schemas.microsoft.com/office/powerpoint/2010/main" val="1821496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dirty="0" err="1" smtClean="0">
                <a:solidFill>
                  <a:srgbClr val="00B0F0"/>
                </a:solidFill>
                <a:effectLst>
                  <a:outerShdw blurRad="38100" dist="38100" dir="2700000" algn="tl">
                    <a:srgbClr val="000000">
                      <a:alpha val="43137"/>
                    </a:srgbClr>
                  </a:outerShdw>
                </a:effectLst>
                <a:latin typeface="Sitka Text Semibold" pitchFamily="2" charset="0"/>
                <a:cs typeface="Times New Roman" pitchFamily="18" charset="0"/>
              </a:rPr>
              <a:t>Glasswing</a:t>
            </a:r>
            <a:endParaRPr lang="en-US" sz="3600" dirty="0">
              <a:solidFill>
                <a:srgbClr val="00B0F0"/>
              </a:solidFill>
              <a:effectLst>
                <a:outerShdw blurRad="38100" dist="38100" dir="2700000" algn="tl">
                  <a:srgbClr val="000000">
                    <a:alpha val="43137"/>
                  </a:srgbClr>
                </a:outerShdw>
              </a:effectLst>
              <a:latin typeface="Sitka Text Semibold" pitchFamily="2"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1</a:t>
            </a:r>
            <a:r>
              <a:rPr lang="en-US" sz="2800" baseline="300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st</a:t>
            </a: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 </a:t>
            </a:r>
            <a:r>
              <a:rPr lang="en-US"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rPr>
              <a:t>stage strategy of anthropic</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4" name="Metin kutusu 2"/>
          <p:cNvSpPr txBox="1"/>
          <p:nvPr/>
        </p:nvSpPr>
        <p:spPr>
          <a:xfrm>
            <a:off x="35496" y="980728"/>
            <a:ext cx="4428492" cy="4708981"/>
          </a:xfrm>
          <a:prstGeom prst="rect">
            <a:avLst/>
          </a:prstGeom>
          <a:noFill/>
        </p:spPr>
        <p:txBody>
          <a:bodyPr wrap="square" rtlCol="0">
            <a:spAutoFit/>
          </a:bodyPr>
          <a:lstStyle/>
          <a:p>
            <a:pPr algn="ctr"/>
            <a:r>
              <a:rPr lang="en-US" sz="2000" dirty="0" smtClean="0">
                <a:latin typeface="Consolas" pitchFamily="49" charset="0"/>
                <a:cs typeface="Consolas" pitchFamily="49" charset="0"/>
              </a:rPr>
              <a:t>Today Anthropic Mythos only open for ~50 American companies. At this moment they using this model for only finding vulnerabilities of this companies and patching them before anybody else’s </a:t>
            </a:r>
            <a:r>
              <a:rPr lang="en-US" sz="2000" dirty="0" err="1" smtClean="0">
                <a:latin typeface="Consolas" pitchFamily="49" charset="0"/>
                <a:cs typeface="Consolas" pitchFamily="49" charset="0"/>
              </a:rPr>
              <a:t>acces</a:t>
            </a:r>
            <a:r>
              <a:rPr lang="en-US" sz="2000" dirty="0" smtClean="0">
                <a:latin typeface="Consolas" pitchFamily="49" charset="0"/>
                <a:cs typeface="Consolas" pitchFamily="49" charset="0"/>
              </a:rPr>
              <a:t> to this model. But there are a question: How other countries </a:t>
            </a:r>
            <a:r>
              <a:rPr lang="en-US" sz="2000" dirty="0" err="1" smtClean="0">
                <a:latin typeface="Consolas" pitchFamily="49" charset="0"/>
                <a:cs typeface="Consolas" pitchFamily="49" charset="0"/>
              </a:rPr>
              <a:t>softwares</a:t>
            </a:r>
            <a:r>
              <a:rPr lang="en-US" sz="2000" dirty="0" smtClean="0">
                <a:latin typeface="Consolas" pitchFamily="49" charset="0"/>
                <a:cs typeface="Consolas" pitchFamily="49" charset="0"/>
              </a:rPr>
              <a:t> can protect them? How ethical letting to use this thing to only some segment of people? And Is it vulnerability being outside </a:t>
            </a:r>
            <a:r>
              <a:rPr lang="en-US" sz="2000" dirty="0" err="1" smtClean="0">
                <a:latin typeface="Consolas" pitchFamily="49" charset="0"/>
                <a:cs typeface="Consolas" pitchFamily="49" charset="0"/>
              </a:rPr>
              <a:t>glasswing</a:t>
            </a:r>
            <a:r>
              <a:rPr lang="en-US" sz="2000" dirty="0">
                <a:latin typeface="Consolas" pitchFamily="49" charset="0"/>
                <a:cs typeface="Consolas" pitchFamily="49" charset="0"/>
              </a:rPr>
              <a:t>?</a:t>
            </a:r>
            <a:endParaRPr lang="en-US" sz="2000" dirty="0" smtClean="0">
              <a:latin typeface="Consolas" pitchFamily="49" charset="0"/>
              <a:cs typeface="Consolas" pitchFamily="49"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1115365"/>
            <a:ext cx="3685148" cy="197260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3087974"/>
            <a:ext cx="3685148" cy="1944681"/>
          </a:xfrm>
          <a:prstGeom prst="rect">
            <a:avLst/>
          </a:prstGeom>
        </p:spPr>
      </p:pic>
      <p:sp>
        <p:nvSpPr>
          <p:cNvPr id="8" name="TextBox 7"/>
          <p:cNvSpPr txBox="1"/>
          <p:nvPr/>
        </p:nvSpPr>
        <p:spPr>
          <a:xfrm>
            <a:off x="6012160" y="5032655"/>
            <a:ext cx="1728192" cy="276999"/>
          </a:xfrm>
          <a:prstGeom prst="rect">
            <a:avLst/>
          </a:prstGeom>
          <a:noFill/>
        </p:spPr>
        <p:txBody>
          <a:bodyPr wrap="square" rtlCol="0">
            <a:spAutoFit/>
          </a:bodyPr>
          <a:lstStyle/>
          <a:p>
            <a:r>
              <a:rPr lang="en-US" sz="1200" dirty="0" smtClean="0">
                <a:latin typeface="Times New Roman" panose="02020603050405020304" pitchFamily="18" charset="0"/>
                <a:cs typeface="Times New Roman" panose="02020603050405020304" pitchFamily="18" charset="0"/>
              </a:rPr>
              <a:t>+ ~40 companies more</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54146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b="1"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What is next? </a:t>
            </a:r>
            <a:endParaRPr lang="en-US" sz="4800" b="1"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Unpredictable future of AI</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2" name="TextBox 1"/>
          <p:cNvSpPr txBox="1"/>
          <p:nvPr/>
        </p:nvSpPr>
        <p:spPr>
          <a:xfrm>
            <a:off x="0" y="677108"/>
            <a:ext cx="9144000" cy="307777"/>
          </a:xfrm>
          <a:prstGeom prst="rect">
            <a:avLst/>
          </a:prstGeom>
          <a:noFill/>
        </p:spPr>
        <p:txBody>
          <a:bodyPr wrap="square" rtlCol="0">
            <a:spAutoFit/>
          </a:bodyPr>
          <a:lstStyle/>
          <a:p>
            <a:pPr algn="ct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My conspiracy theories</a:t>
            </a:r>
            <a:endParaRPr lang="en-US" sz="1400" i="1" dirty="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0" y="2134307"/>
            <a:ext cx="9144000" cy="923330"/>
          </a:xfrm>
          <a:prstGeom prst="rect">
            <a:avLst/>
          </a:prstGeom>
          <a:noFill/>
        </p:spPr>
        <p:txBody>
          <a:bodyPr wrap="square" rtlCol="0">
            <a:spAutoFit/>
          </a:bodyPr>
          <a:lstStyle/>
          <a:p>
            <a:r>
              <a:rPr lang="en-US" dirty="0" smtClean="0">
                <a:latin typeface="Consolas" panose="020B0609020204030204" pitchFamily="49" charset="0"/>
              </a:rPr>
              <a:t>FORECAST 1: Mythos will be isolated and accessible for only big companies. Non-American companies would buy mythos after some time and their actions will be watched by anthropic.</a:t>
            </a:r>
            <a:endParaRPr lang="en-US" dirty="0">
              <a:latin typeface="Consolas" panose="020B0609020204030204" pitchFamily="49" charset="0"/>
            </a:endParaRPr>
          </a:p>
        </p:txBody>
      </p:sp>
      <p:sp>
        <p:nvSpPr>
          <p:cNvPr id="8" name="TextBox 7"/>
          <p:cNvSpPr txBox="1"/>
          <p:nvPr/>
        </p:nvSpPr>
        <p:spPr>
          <a:xfrm>
            <a:off x="0" y="1116613"/>
            <a:ext cx="9144000" cy="646331"/>
          </a:xfrm>
          <a:prstGeom prst="rect">
            <a:avLst/>
          </a:prstGeom>
          <a:noFill/>
        </p:spPr>
        <p:txBody>
          <a:bodyPr wrap="square" rtlCol="0">
            <a:spAutoFit/>
          </a:bodyPr>
          <a:lstStyle/>
          <a:p>
            <a:r>
              <a:rPr lang="en-US" dirty="0" smtClean="0">
                <a:latin typeface="Consolas" panose="020B0609020204030204" pitchFamily="49" charset="0"/>
              </a:rPr>
              <a:t>Mythos is not a hype it will change all IT structure of world totally and it can be good or bad. It’s about humanity’s will.</a:t>
            </a:r>
            <a:endParaRPr lang="en-US" dirty="0">
              <a:latin typeface="Consolas" panose="020B0609020204030204" pitchFamily="49" charset="0"/>
            </a:endParaRPr>
          </a:p>
        </p:txBody>
      </p:sp>
      <p:sp>
        <p:nvSpPr>
          <p:cNvPr id="9" name="TextBox 8"/>
          <p:cNvSpPr txBox="1"/>
          <p:nvPr/>
        </p:nvSpPr>
        <p:spPr>
          <a:xfrm>
            <a:off x="0" y="3429000"/>
            <a:ext cx="9144000" cy="1477328"/>
          </a:xfrm>
          <a:prstGeom prst="rect">
            <a:avLst/>
          </a:prstGeom>
          <a:noFill/>
        </p:spPr>
        <p:txBody>
          <a:bodyPr wrap="square" rtlCol="0">
            <a:spAutoFit/>
          </a:bodyPr>
          <a:lstStyle/>
          <a:p>
            <a:r>
              <a:rPr lang="en-US" dirty="0" smtClean="0">
                <a:latin typeface="Consolas" panose="020B0609020204030204" pitchFamily="49" charset="0"/>
              </a:rPr>
              <a:t>FORECAST 2: They will open this only big American companies. And maybe they want making a new limited version of it and sell it to public for </a:t>
            </a:r>
            <a:r>
              <a:rPr lang="en-US" dirty="0" err="1" smtClean="0">
                <a:latin typeface="Consolas" panose="020B0609020204030204" pitchFamily="49" charset="0"/>
              </a:rPr>
              <a:t>competitioning</a:t>
            </a:r>
            <a:r>
              <a:rPr lang="en-US" dirty="0" smtClean="0">
                <a:latin typeface="Consolas" panose="020B0609020204030204" pitchFamily="49" charset="0"/>
              </a:rPr>
              <a:t> with </a:t>
            </a:r>
            <a:r>
              <a:rPr lang="en-US" dirty="0" err="1" smtClean="0">
                <a:latin typeface="Consolas" panose="020B0609020204030204" pitchFamily="49" charset="0"/>
              </a:rPr>
              <a:t>gemini</a:t>
            </a:r>
            <a:r>
              <a:rPr lang="en-US" dirty="0" smtClean="0">
                <a:latin typeface="Consolas" panose="020B0609020204030204" pitchFamily="49" charset="0"/>
              </a:rPr>
              <a:t>, </a:t>
            </a:r>
            <a:r>
              <a:rPr lang="en-US" dirty="0" err="1" smtClean="0">
                <a:latin typeface="Consolas" panose="020B0609020204030204" pitchFamily="49" charset="0"/>
              </a:rPr>
              <a:t>gpt</a:t>
            </a:r>
            <a:r>
              <a:rPr lang="en-US" dirty="0" smtClean="0">
                <a:latin typeface="Consolas" panose="020B0609020204030204" pitchFamily="49" charset="0"/>
              </a:rPr>
              <a:t> etc. It will be so expensive and will be a </a:t>
            </a:r>
            <a:r>
              <a:rPr lang="en-US" dirty="0" err="1" smtClean="0">
                <a:latin typeface="Consolas" panose="020B0609020204030204" pitchFamily="49" charset="0"/>
              </a:rPr>
              <a:t>standart</a:t>
            </a:r>
            <a:r>
              <a:rPr lang="en-US" dirty="0" smtClean="0">
                <a:latin typeface="Consolas" panose="020B0609020204030204" pitchFamily="49" charset="0"/>
              </a:rPr>
              <a:t> LLM that makes boring presentations and unsecure web-sites.</a:t>
            </a:r>
            <a:endParaRPr lang="en-US" dirty="0">
              <a:latin typeface="Consolas" panose="020B0609020204030204" pitchFamily="49" charset="0"/>
            </a:endParaRPr>
          </a:p>
        </p:txBody>
      </p:sp>
    </p:spTree>
    <p:extLst>
      <p:ext uri="{BB962C8B-B14F-4D97-AF65-F5344CB8AC3E}">
        <p14:creationId xmlns:p14="http://schemas.microsoft.com/office/powerpoint/2010/main" val="5089130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0"/>
            <a:ext cx="9144000" cy="830997"/>
          </a:xfrm>
          <a:prstGeom prst="rect">
            <a:avLst/>
          </a:prstGeom>
          <a:noFill/>
        </p:spPr>
        <p:txBody>
          <a:bodyPr wrap="square" rtlCol="0">
            <a:spAutoFit/>
          </a:bodyPr>
          <a:lstStyle/>
          <a:p>
            <a:pPr algn="ctr"/>
            <a:r>
              <a:rPr lang="en-US" sz="4800" b="1"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What is next? </a:t>
            </a:r>
            <a:endParaRPr lang="en-US" sz="4800" b="1"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Metin kutusu 3"/>
          <p:cNvSpPr txBox="1"/>
          <p:nvPr/>
        </p:nvSpPr>
        <p:spPr>
          <a:xfrm>
            <a:off x="0" y="5954960"/>
            <a:ext cx="9144000" cy="523220"/>
          </a:xfrm>
          <a:prstGeom prst="rect">
            <a:avLst/>
          </a:prstGeom>
          <a:noFill/>
        </p:spPr>
        <p:txBody>
          <a:bodyPr wrap="square" rtlCol="0">
            <a:spAutoFit/>
          </a:bodyPr>
          <a:lstStyle/>
          <a:p>
            <a:pPr algn="ctr"/>
            <a:r>
              <a:rPr lang="en-US" sz="2800" dirty="0" smtClean="0">
                <a:solidFill>
                  <a:schemeClr val="accent4"/>
                </a:solidFill>
                <a:effectLst>
                  <a:outerShdw blurRad="38100" dist="38100" dir="2700000" algn="tl">
                    <a:srgbClr val="000000">
                      <a:alpha val="43137"/>
                    </a:srgbClr>
                  </a:outerShdw>
                </a:effectLst>
                <a:latin typeface="Consolas" pitchFamily="49" charset="0"/>
                <a:cs typeface="Consolas" pitchFamily="49" charset="0"/>
              </a:rPr>
              <a:t>Unpredictable future of AI</a:t>
            </a:r>
            <a:endParaRPr lang="az-Latn-AZ" sz="2800" dirty="0">
              <a:solidFill>
                <a:schemeClr val="accent4"/>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4" name="TextBox 3"/>
          <p:cNvSpPr txBox="1"/>
          <p:nvPr/>
        </p:nvSpPr>
        <p:spPr>
          <a:xfrm>
            <a:off x="0" y="677108"/>
            <a:ext cx="9144000" cy="307777"/>
          </a:xfrm>
          <a:prstGeom prst="rect">
            <a:avLst/>
          </a:prstGeom>
          <a:noFill/>
        </p:spPr>
        <p:txBody>
          <a:bodyPr wrap="square" rtlCol="0">
            <a:spAutoFit/>
          </a:bodyPr>
          <a:lstStyle/>
          <a:p>
            <a:pPr algn="ctr"/>
            <a:r>
              <a:rPr lang="en-US" sz="1400" i="1" dirty="0" smtClean="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My conspiracy theories</a:t>
            </a:r>
            <a:endParaRPr lang="en-US" sz="1400" i="1" dirty="0">
              <a:solidFill>
                <a:srgbClr val="FA65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0" y="1577096"/>
            <a:ext cx="9144000" cy="3785652"/>
          </a:xfrm>
          <a:prstGeom prst="rect">
            <a:avLst/>
          </a:prstGeom>
          <a:noFill/>
        </p:spPr>
        <p:txBody>
          <a:bodyPr wrap="square" rtlCol="0">
            <a:spAutoFit/>
          </a:bodyPr>
          <a:lstStyle/>
          <a:p>
            <a:r>
              <a:rPr lang="en-US" sz="1600" dirty="0" smtClean="0">
                <a:latin typeface="Consolas" panose="020B0609020204030204" pitchFamily="49" charset="0"/>
              </a:rPr>
              <a:t>FORECAST 3: It is look like conspiracy theory </a:t>
            </a:r>
            <a:r>
              <a:rPr lang="en-US" sz="1600" dirty="0">
                <a:latin typeface="Consolas" panose="020B0609020204030204" pitchFamily="49" charset="0"/>
              </a:rPr>
              <a:t>a</a:t>
            </a:r>
            <a:r>
              <a:rPr lang="en-US" sz="1600" dirty="0" smtClean="0">
                <a:latin typeface="Consolas" panose="020B0609020204030204" pitchFamily="49" charset="0"/>
              </a:rPr>
              <a:t>nd maybe they will release it for public and after some time humanity will be figure out how they live with this. At every case after that nothing will be same. If Mythos is not very good too at software coding and it also codes plenty of vulnerabilities at every code like other models, vibe coding will dead. But if Mythos also so good at improving complex projects accurately it will be so expensive and software coding will be an expensive thing. So do you need a web-site? Better buy Mythos. Because your handmade or </a:t>
            </a:r>
            <a:r>
              <a:rPr lang="en-US" sz="1600" dirty="0" err="1" smtClean="0">
                <a:latin typeface="Consolas" panose="020B0609020204030204" pitchFamily="49" charset="0"/>
              </a:rPr>
              <a:t>gemini</a:t>
            </a:r>
            <a:r>
              <a:rPr lang="en-US" sz="1600" dirty="0" smtClean="0">
                <a:latin typeface="Consolas" panose="020B0609020204030204" pitchFamily="49" charset="0"/>
              </a:rPr>
              <a:t>-powered site will be hacked in 5 minutes by some guy or but just bought Mythos. So count of IT workers at big companies will </a:t>
            </a:r>
            <a:r>
              <a:rPr lang="en-US" sz="1600" dirty="0" err="1" smtClean="0">
                <a:latin typeface="Consolas" panose="020B0609020204030204" pitchFamily="49" charset="0"/>
              </a:rPr>
              <a:t>extremeky</a:t>
            </a:r>
            <a:r>
              <a:rPr lang="en-US" sz="1600" dirty="0" smtClean="0">
                <a:latin typeface="Consolas" panose="020B0609020204030204" pitchFamily="49" charset="0"/>
              </a:rPr>
              <a:t> reduce after release. I did think so about this, because (Yes. I know it is not exact same situation. But they are similar at some </a:t>
            </a:r>
            <a:r>
              <a:rPr lang="en-US" sz="1600" dirty="0" err="1" smtClean="0">
                <a:latin typeface="Consolas" panose="020B0609020204030204" pitchFamily="49" charset="0"/>
              </a:rPr>
              <a:t>poiny</a:t>
            </a:r>
            <a:r>
              <a:rPr lang="en-US" sz="1600" dirty="0" smtClean="0">
                <a:latin typeface="Consolas" panose="020B0609020204030204" pitchFamily="49" charset="0"/>
              </a:rPr>
              <a:t>. Who knows?) if you remember at 2019 </a:t>
            </a:r>
            <a:r>
              <a:rPr lang="en-US" sz="1600" dirty="0" err="1" smtClean="0">
                <a:latin typeface="Consolas" panose="020B0609020204030204" pitchFamily="49" charset="0"/>
              </a:rPr>
              <a:t>OpenAI</a:t>
            </a:r>
            <a:r>
              <a:rPr lang="en-US" sz="1600" dirty="0" smtClean="0">
                <a:latin typeface="Consolas" panose="020B0609020204030204" pitchFamily="49" charset="0"/>
              </a:rPr>
              <a:t> said we will not release GPT-2. They said a model with 1500 parameters is to dangerous. But today public AI models that more powerful than GPT-2 are countless. So why not? Maybe in future everybody will use mythos and its alternates for trying crack someone at the internet. </a:t>
            </a:r>
            <a:r>
              <a:rPr lang="en-US" sz="1600" dirty="0" smtClean="0">
                <a:latin typeface="Consolas" panose="020B0609020204030204" pitchFamily="49" charset="0"/>
                <a:sym typeface="Wingdings" panose="05000000000000000000" pitchFamily="2" charset="2"/>
              </a:rPr>
              <a:t></a:t>
            </a:r>
            <a:endParaRPr lang="en-US" sz="1600" dirty="0">
              <a:latin typeface="Consolas" panose="020B0609020204030204" pitchFamily="49" charset="0"/>
            </a:endParaRPr>
          </a:p>
        </p:txBody>
      </p:sp>
    </p:spTree>
    <p:extLst>
      <p:ext uri="{BB962C8B-B14F-4D97-AF65-F5344CB8AC3E}">
        <p14:creationId xmlns:p14="http://schemas.microsoft.com/office/powerpoint/2010/main" val="27549037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0" y="3721044"/>
            <a:ext cx="9144000" cy="461665"/>
          </a:xfrm>
          <a:prstGeom prst="rect">
            <a:avLst/>
          </a:prstGeom>
          <a:noFill/>
        </p:spPr>
        <p:txBody>
          <a:bodyPr wrap="square" rtlCol="0">
            <a:spAutoFit/>
          </a:bodyPr>
          <a:lstStyle/>
          <a:p>
            <a:pPr algn="ctr"/>
            <a:r>
              <a:rPr lang="en-US" sz="2400" dirty="0" smtClean="0">
                <a:solidFill>
                  <a:srgbClr val="00B050"/>
                </a:solidFill>
                <a:latin typeface="Consolas" pitchFamily="49" charset="0"/>
                <a:cs typeface="Consolas" pitchFamily="49" charset="0"/>
              </a:rPr>
              <a:t>Free work of </a:t>
            </a:r>
            <a:r>
              <a:rPr lang="az-Latn-AZ"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Yusif</a:t>
            </a:r>
            <a:r>
              <a:rPr lang="en-US"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 </a:t>
            </a:r>
            <a:r>
              <a:rPr lang="az-Latn-AZ" sz="2400" dirty="0" smtClean="0">
                <a:solidFill>
                  <a:srgbClr val="00B050"/>
                </a:solidFill>
                <a:effectLst>
                  <a:outerShdw blurRad="38100" dist="38100" dir="2700000" algn="tl">
                    <a:srgbClr val="000000">
                      <a:alpha val="43137"/>
                    </a:srgbClr>
                  </a:outerShdw>
                </a:effectLst>
                <a:latin typeface="Consolas" pitchFamily="49" charset="0"/>
                <a:cs typeface="Consolas" pitchFamily="49" charset="0"/>
              </a:rPr>
              <a:t>Samadov</a:t>
            </a:r>
            <a:endParaRPr lang="az-Latn-AZ" sz="2400" dirty="0">
              <a:solidFill>
                <a:srgbClr val="00B050"/>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14" name="Metin kutusu 13"/>
          <p:cNvSpPr txBox="1"/>
          <p:nvPr/>
        </p:nvSpPr>
        <p:spPr>
          <a:xfrm>
            <a:off x="838267" y="1772816"/>
            <a:ext cx="7672793" cy="830997"/>
          </a:xfrm>
          <a:prstGeom prst="rect">
            <a:avLst/>
          </a:prstGeom>
          <a:noFill/>
        </p:spPr>
        <p:txBody>
          <a:bodyPr wrap="square" rtlCol="0">
            <a:spAutoFit/>
          </a:bodyPr>
          <a:lstStyle/>
          <a:p>
            <a:pPr algn="ctr"/>
            <a:r>
              <a:rPr lang="en-US" sz="4800" i="1" dirty="0" smtClean="0">
                <a:solidFill>
                  <a:srgbClr val="00B0F0"/>
                </a:solidFill>
                <a:effectLst>
                  <a:outerShdw blurRad="38100" dist="38100" dir="2700000" algn="tl">
                    <a:srgbClr val="000000">
                      <a:alpha val="43137"/>
                    </a:srgbClr>
                  </a:outerShdw>
                </a:effectLst>
                <a:latin typeface="Times New Roman" pitchFamily="18" charset="0"/>
                <a:cs typeface="Times New Roman" pitchFamily="18" charset="0"/>
              </a:rPr>
              <a:t>Thanks for attention</a:t>
            </a:r>
            <a:endParaRPr lang="az-Latn-AZ" sz="4800" i="1" dirty="0">
              <a:solidFill>
                <a:srgbClr val="00B0F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Metin kutusu 4"/>
          <p:cNvSpPr txBox="1"/>
          <p:nvPr/>
        </p:nvSpPr>
        <p:spPr>
          <a:xfrm>
            <a:off x="0" y="6381328"/>
            <a:ext cx="9144000" cy="369332"/>
          </a:xfrm>
          <a:prstGeom prst="rect">
            <a:avLst/>
          </a:prstGeom>
          <a:noFill/>
        </p:spPr>
        <p:txBody>
          <a:bodyPr wrap="square" rtlCol="0">
            <a:spAutoFit/>
          </a:bodyPr>
          <a:lstStyle/>
          <a:p>
            <a:pPr algn="ctr"/>
            <a:r>
              <a:rPr lang="en-US" dirty="0" smtClean="0">
                <a:solidFill>
                  <a:srgbClr val="00B050"/>
                </a:solidFill>
                <a:latin typeface="Consolas" pitchFamily="49" charset="0"/>
                <a:cs typeface="Consolas" pitchFamily="49" charset="0"/>
              </a:rPr>
              <a:t>Communication and more about me: yusifsamadov457.github.io</a:t>
            </a:r>
            <a:endParaRPr lang="az-Latn-AZ" dirty="0">
              <a:solidFill>
                <a:srgbClr val="00B050"/>
              </a:solidFill>
              <a:effectLst>
                <a:outerShdw blurRad="38100" dist="38100" dir="2700000" algn="tl">
                  <a:srgbClr val="000000">
                    <a:alpha val="43137"/>
                  </a:srgbClr>
                </a:outerShdw>
              </a:effectLst>
              <a:latin typeface="Consolas" pitchFamily="49" charset="0"/>
              <a:cs typeface="Consolas" pitchFamily="49" charset="0"/>
            </a:endParaRPr>
          </a:p>
        </p:txBody>
      </p:sp>
    </p:spTree>
    <p:extLst>
      <p:ext uri="{BB962C8B-B14F-4D97-AF65-F5344CB8AC3E}">
        <p14:creationId xmlns:p14="http://schemas.microsoft.com/office/powerpoint/2010/main" val="1723776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0" y="-61556"/>
            <a:ext cx="9144000" cy="646331"/>
          </a:xfrm>
          <a:prstGeom prst="rect">
            <a:avLst/>
          </a:prstGeom>
          <a:noFill/>
        </p:spPr>
        <p:txBody>
          <a:bodyPr wrap="square" rtlCol="0">
            <a:spAutoFit/>
          </a:bodyPr>
          <a:lstStyle/>
          <a:p>
            <a:pPr algn="ctr"/>
            <a:r>
              <a:rPr lang="en-US" sz="3600" dirty="0" smtClean="0">
                <a:solidFill>
                  <a:srgbClr val="00B0F0"/>
                </a:solidFill>
                <a:effectLst>
                  <a:outerShdw blurRad="38100" dist="38100" dir="2700000" algn="tl">
                    <a:srgbClr val="000000">
                      <a:alpha val="43137"/>
                    </a:srgbClr>
                  </a:outerShdw>
                </a:effectLst>
                <a:latin typeface="Consolas" pitchFamily="49" charset="0"/>
                <a:cs typeface="Consolas" pitchFamily="49" charset="0"/>
              </a:rPr>
              <a:t>References</a:t>
            </a:r>
          </a:p>
        </p:txBody>
      </p:sp>
      <p:sp>
        <p:nvSpPr>
          <p:cNvPr id="2" name="Metin kutusu 1"/>
          <p:cNvSpPr txBox="1"/>
          <p:nvPr/>
        </p:nvSpPr>
        <p:spPr>
          <a:xfrm>
            <a:off x="611560" y="476672"/>
            <a:ext cx="7920880" cy="923330"/>
          </a:xfrm>
          <a:prstGeom prst="rect">
            <a:avLst/>
          </a:prstGeom>
          <a:noFill/>
        </p:spPr>
        <p:txBody>
          <a:bodyPr wrap="square" rtlCol="0">
            <a:spAutoFit/>
          </a:bodyPr>
          <a:lstStyle/>
          <a:p>
            <a:pPr marL="342900" indent="-342900" algn="just">
              <a:buFontTx/>
              <a:buAutoNum type="arabicParenR"/>
            </a:pPr>
            <a:r>
              <a:rPr lang="en-US" dirty="0">
                <a:hlinkClick r:id="rId2"/>
              </a:rPr>
              <a:t>https://</a:t>
            </a:r>
            <a:r>
              <a:rPr lang="en-US" dirty="0" smtClean="0">
                <a:hlinkClick r:id="rId2"/>
              </a:rPr>
              <a:t>www.anthropic.com/glasswing</a:t>
            </a:r>
            <a:endParaRPr lang="en-US" dirty="0" smtClean="0"/>
          </a:p>
          <a:p>
            <a:pPr marL="342900" indent="-342900" algn="just">
              <a:buFontTx/>
              <a:buAutoNum type="arabicParenR"/>
            </a:pPr>
            <a:r>
              <a:rPr lang="en-US" dirty="0">
                <a:hlinkClick r:id="rId3"/>
              </a:rPr>
              <a:t>https://</a:t>
            </a:r>
            <a:r>
              <a:rPr lang="en-US" dirty="0" smtClean="0">
                <a:hlinkClick r:id="rId3"/>
              </a:rPr>
              <a:t>www-cdn.anthropic.com/8b8380204f74670be75e81c820ca8dda846ab289.pdf</a:t>
            </a:r>
            <a:endParaRPr lang="en-US" dirty="0" smtClean="0"/>
          </a:p>
          <a:p>
            <a:pPr marL="342900" indent="-342900" algn="just">
              <a:buFontTx/>
              <a:buAutoNum type="arabicParenR"/>
            </a:pPr>
            <a:r>
              <a:rPr lang="en-US"/>
              <a:t>https://www-cdn.anthropic.com/3edfc1a7f947aa81841cf88305cb513f184c36ae.pdf</a:t>
            </a:r>
            <a:endParaRPr lang="en-US" dirty="0"/>
          </a:p>
        </p:txBody>
      </p:sp>
    </p:spTree>
    <p:extLst>
      <p:ext uri="{BB962C8B-B14F-4D97-AF65-F5344CB8AC3E}">
        <p14:creationId xmlns:p14="http://schemas.microsoft.com/office/powerpoint/2010/main" val="3806183557"/>
      </p:ext>
    </p:extLst>
  </p:cSld>
  <p:clrMapOvr>
    <a:masterClrMapping/>
  </p:clrMapOvr>
  <p:timing>
    <p:tnLst>
      <p:par>
        <p:cTn id="1" dur="indefinite" restart="never" nodeType="tmRoot"/>
      </p:par>
    </p:tnLst>
  </p:timing>
</p:sld>
</file>

<file path=ppt/theme/theme1.xml><?xml version="1.0" encoding="utf-8"?>
<a:theme xmlns:a="http://schemas.openxmlformats.org/drawingml/2006/main" name="Ufuk">
  <a:themeElements>
    <a:clrScheme name="Ufuk">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Ufuk">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Ufuk">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1333</TotalTime>
  <Words>863</Words>
  <Application>Microsoft Office PowerPoint</Application>
  <PresentationFormat>On-screen Show (4:3)</PresentationFormat>
  <Paragraphs>70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Narrow</vt:lpstr>
      <vt:lpstr>Consolas</vt:lpstr>
      <vt:lpstr>Sitka Text Semibold</vt:lpstr>
      <vt:lpstr>Times New Roman</vt:lpstr>
      <vt:lpstr>Wingdings</vt:lpstr>
      <vt:lpstr>Ufuk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Polarbear</dc:creator>
  <cp:lastModifiedBy>PolarBear</cp:lastModifiedBy>
  <cp:revision>90</cp:revision>
  <dcterms:created xsi:type="dcterms:W3CDTF">2025-12-07T16:51:37Z</dcterms:created>
  <dcterms:modified xsi:type="dcterms:W3CDTF">2026-05-25T02:37:20Z</dcterms:modified>
</cp:coreProperties>
</file>